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Items where this store was cheapest</c:v>
                </c:pt>
              </c:strCache>
            </c:strRef>
          </c:tx>
          <c:spPr>
            <a:solidFill>
              <a:srgbClr val="2C5F2D">
                <a:alpha val="100000"/>
              </a:srgbClr>
            </a:solidFill>
            <a:effectLst/>
          </c:spPr>
          <c:invertIfNegative val="0"/>
          <c:dLbls>
            <c:numFmt formatCode="#,##0" sourceLinked="0"/>
            <c:txPr>
              <a:bodyPr/>
              <a:lstStyle/>
              <a:p>
                <a:pPr>
                  <a:defRPr b="1" i="0" strike="noStrike" sz="1400" u="none">
                    <a:solidFill>
                      <a:srgbClr val="1F2A1F"/>
                    </a:solidFill>
                    <a:latin typeface="Arial"/>
                  </a:defRPr>
                </a:pPr>
              </a:p>
            </c:txPr>
            <c:showLegendKey val="0"/>
            <c:showVal val="1"/>
            <c:showCatName val="0"/>
            <c:showSerName val="0"/>
            <c:showPercent val="0"/>
            <c:showBubbleSize val="0"/>
            <c:showLeaderLines val="0"/>
          </c:dLbls>
          <c:dPt>
            <c:idx val="0"/>
            <c:invertIfNegative val="0"/>
            <c:bubble3D val="0"/>
            <c:spPr>
              <a:solidFill>
                <a:srgbClr val="2C5F2D"/>
              </a:solidFill>
              <a:effectLst/>
            </c:spPr>
          </c:dPt>
          <c:dPt>
            <c:idx val="1"/>
            <c:invertIfNegative val="0"/>
            <c:bubble3D val="0"/>
            <c:spPr>
              <a:solidFill>
                <a:srgbClr val="EB6834"/>
              </a:solidFill>
              <a:effectLst/>
            </c:spPr>
          </c:dPt>
          <c:dPt>
            <c:idx val="2"/>
            <c:invertIfNegative val="0"/>
            <c:bubble3D val="0"/>
            <c:spPr>
              <a:solidFill>
                <a:srgbClr val="4A6FA5"/>
              </a:solidFill>
              <a:effectLst/>
            </c:spPr>
          </c:dPt>
          <c:cat>
            <c:multiLvlStrRef>
              <c:f>Sheet1!$A$2:$A$4</c:f>
              <c:multiLvlStrCache>
                <c:ptCount val="3"/>
                <c:lvl>
                  <c:pt idx="0">
                    <c:v>Food First</c:v>
                  </c:pt>
                  <c:pt idx="1">
                    <c:v>Supermarket A</c:v>
                  </c:pt>
                  <c:pt idx="2">
                    <c:v>Supermarket B</c:v>
                  </c:pt>
                </c:lvl>
              </c:multiLvlStrCache>
            </c:multiLvlStrRef>
          </c:cat>
          <c:val>
            <c:numRef>
              <c:f>Sheet1!$B$2:$B$4</c:f>
              <c:numCache>
                <c:formatCode>General</c:formatCode>
                <c:ptCount val="3"/>
                <c:pt idx="0">
                  <c:v>27</c:v>
                </c:pt>
                <c:pt idx="1">
                  <c:v>8</c:v>
                </c:pt>
                <c:pt idx="2">
                  <c:v>1</c:v>
                </c:pt>
              </c:numCache>
            </c:numRef>
          </c:val>
        </c:ser>
        <c:dLbls>
          <c:numFmt formatCode="#,##0" sourceLinked="0"/>
          <c:txPr>
            <a:bodyPr/>
            <a:lstStyle/>
            <a:p>
              <a:pPr>
                <a:defRPr b="1" i="0" strike="noStrike" sz="1400" u="none">
                  <a:solidFill>
                    <a:srgbClr val="1F2A1F"/>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F2A1F"/>
                </a:solidFill>
                <a:latin typeface="Arial"/>
              </a:defRPr>
            </a:pPr>
            <a:endParaRPr lang="en-US"/>
          </a:p>
        </c:txPr>
        <c:crossAx val="2094734552"/>
        <c:crosses val="autoZero"/>
        <c:auto val="1"/>
        <c:lblAlgn val="ctr"/>
        <c:noMultiLvlLbl val="1"/>
      </c:catAx>
      <c:valAx>
        <c:axId val="2094734552"/>
        <c:scaling>
          <c:orientation val="minMax"/>
          <c:max val="36"/>
          <c:min val="0"/>
        </c:scaling>
        <c:delete val="0"/>
        <c:axPos val="b"/>
        <c:majorGridlines>
          <c:spPr>
            <a:ln w="6350" cap="flat">
              <a:solidFill>
                <a:srgbClr val="E3E8D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C6B5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vs Supermarket A</c:v>
                </c:pt>
              </c:strCache>
            </c:strRef>
          </c:tx>
          <c:spPr>
            <a:solidFill>
              <a:srgbClr val="EB6834"/>
            </a:solidFill>
            <a:effectLst/>
          </c:spPr>
          <c:invertIfNegative val="0"/>
          <c:dLbls>
            <c:numFmt formatCode="0&quot;%&quot;" sourceLinked="0"/>
            <c:txPr>
              <a:bodyPr/>
              <a:lstStyle/>
              <a:p>
                <a:pPr>
                  <a:defRPr b="0" i="0" strike="noStrike" sz="1100" u="none">
                    <a:solidFill>
                      <a:srgbClr val="1F2A1F"/>
                    </a:solidFill>
                    <a:latin typeface="Arial"/>
                  </a:defRPr>
                </a:pPr>
              </a:p>
            </c:txPr>
            <c:showLegendKey val="0"/>
            <c:showVal val="1"/>
            <c:showCatName val="0"/>
            <c:showSerName val="0"/>
            <c:showPercent val="0"/>
            <c:showBubbleSize val="0"/>
            <c:showLeaderLines val="0"/>
          </c:dLbls>
          <c:cat>
            <c:multiLvlStrRef>
              <c:f>Sheet1!$A$2:$A$5</c:f>
              <c:multiLvlStrCache>
                <c:ptCount val="4"/>
                <c:lvl>
                  <c:pt idx="0">
                    <c:v>Vegetables</c:v>
                  </c:pt>
                  <c:pt idx="1">
                    <c:v>Fruits</c:v>
                  </c:pt>
                  <c:pt idx="2">
                    <c:v>Grocery</c:v>
                  </c:pt>
                  <c:pt idx="3">
                    <c:v>All</c:v>
                  </c:pt>
                </c:lvl>
              </c:multiLvlStrCache>
            </c:multiLvlStrRef>
          </c:cat>
          <c:val>
            <c:numRef>
              <c:f>Sheet1!$B$2:$B$5</c:f>
              <c:numCache>
                <c:formatCode>General</c:formatCode>
                <c:ptCount val="4"/>
                <c:pt idx="0">
                  <c:v>-40.3</c:v>
                </c:pt>
                <c:pt idx="1">
                  <c:v>-1.4</c:v>
                </c:pt>
                <c:pt idx="2">
                  <c:v>-41.7</c:v>
                </c:pt>
                <c:pt idx="3">
                  <c:v>-24.4</c:v>
                </c:pt>
              </c:numCache>
            </c:numRef>
          </c:val>
        </c:ser>
        <c:ser>
          <c:idx val="1"/>
          <c:order val="1"/>
          <c:tx>
            <c:strRef>
              <c:f>Sheet1!$C$1</c:f>
              <c:strCache>
                <c:ptCount val="1"/>
                <c:pt idx="0">
                  <c:v>vs Supermarket B</c:v>
                </c:pt>
              </c:strCache>
            </c:strRef>
          </c:tx>
          <c:spPr>
            <a:solidFill>
              <a:srgbClr val="4A6FA5"/>
            </a:solidFill>
            <a:effectLst/>
          </c:spPr>
          <c:invertIfNegative val="0"/>
          <c:dLbls>
            <c:numFmt formatCode="0&quot;%&quot;" sourceLinked="0"/>
            <c:txPr>
              <a:bodyPr/>
              <a:lstStyle/>
              <a:p>
                <a:pPr>
                  <a:defRPr b="0" i="0" strike="noStrike" sz="1100" u="none">
                    <a:solidFill>
                      <a:srgbClr val="1F2A1F"/>
                    </a:solidFill>
                    <a:latin typeface="Arial"/>
                  </a:defRPr>
                </a:pPr>
              </a:p>
            </c:txPr>
            <c:showLegendKey val="0"/>
            <c:showVal val="1"/>
            <c:showCatName val="0"/>
            <c:showSerName val="0"/>
            <c:showPercent val="0"/>
            <c:showBubbleSize val="0"/>
            <c:showLeaderLines val="0"/>
          </c:dLbls>
          <c:cat>
            <c:multiLvlStrRef>
              <c:f>Sheet1!$A$2:$A$5</c:f>
              <c:multiLvlStrCache>
                <c:ptCount val="4"/>
                <c:lvl>
                  <c:pt idx="0">
                    <c:v>Vegetables</c:v>
                  </c:pt>
                  <c:pt idx="1">
                    <c:v>Fruits</c:v>
                  </c:pt>
                  <c:pt idx="2">
                    <c:v>Grocery</c:v>
                  </c:pt>
                  <c:pt idx="3">
                    <c:v>All</c:v>
                  </c:pt>
                </c:lvl>
              </c:multiLvlStrCache>
            </c:multiLvlStrRef>
          </c:cat>
          <c:val>
            <c:numRef>
              <c:f>Sheet1!$C$2:$C$5</c:f>
              <c:numCache>
                <c:formatCode>General</c:formatCode>
                <c:ptCount val="4"/>
                <c:pt idx="0">
                  <c:v>-36.1</c:v>
                </c:pt>
                <c:pt idx="1">
                  <c:v>-13.5</c:v>
                </c:pt>
                <c:pt idx="2">
                  <c:v>-46.5</c:v>
                </c:pt>
                <c:pt idx="3">
                  <c:v>-23.5</c:v>
                </c:pt>
              </c:numCache>
            </c:numRef>
          </c:val>
        </c:ser>
        <c:dLbls>
          <c:numFmt formatCode="0&quot;%&quot;" sourceLinked="0"/>
          <c:txPr>
            <a:bodyPr/>
            <a:lstStyle/>
            <a:p>
              <a:pPr>
                <a:defRPr b="0" i="0" strike="noStrike" sz="1100" u="none">
                  <a:solidFill>
                    <a:srgbClr val="1F2A1F"/>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A1F"/>
                </a:solidFill>
                <a:latin typeface="Arial"/>
              </a:defRPr>
            </a:pPr>
            <a:endParaRPr lang="en-US"/>
          </a:p>
        </c:txPr>
        <c:crossAx val="2094734552"/>
        <c:crosses val="autoZero"/>
        <c:auto val="1"/>
        <c:lblAlgn val="ctr"/>
        <c:noMultiLvlLbl val="1"/>
      </c:catAx>
      <c:valAx>
        <c:axId val="2094734552"/>
        <c:scaling>
          <c:orientation val="minMax"/>
          <c:max val="0"/>
          <c:min val="-50"/>
        </c:scaling>
        <c:delete val="0"/>
        <c:axPos val="l"/>
        <c:majorGridlines>
          <c:spPr>
            <a:ln w="6350" cap="flat">
              <a:solidFill>
                <a:srgbClr val="E3E8DF"/>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5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A1F"/>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vs Supermarket A</c:v>
                </c:pt>
              </c:strCache>
            </c:strRef>
          </c:tx>
          <c:spPr>
            <a:solidFill>
              <a:srgbClr val="EB683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Zucchini</c:v>
                  </c:pt>
                  <c:pt idx="1">
                    <c:v>Carrots</c:v>
                  </c:pt>
                  <c:pt idx="2">
                    <c:v>Red Cabbage</c:v>
                  </c:pt>
                  <c:pt idx="3">
                    <c:v>Local Cabbage</c:v>
                  </c:pt>
                  <c:pt idx="4">
                    <c:v>Red Onions</c:v>
                  </c:pt>
                  <c:pt idx="5">
                    <c:v>Pumpkin</c:v>
                  </c:pt>
                  <c:pt idx="6">
                    <c:v>Romaine Lettuce</c:v>
                  </c:pt>
                  <c:pt idx="7">
                    <c:v>Iceberg Lettuce</c:v>
                  </c:pt>
                  <c:pt idx="8">
                    <c:v>Cauliflower</c:v>
                  </c:pt>
                  <c:pt idx="9">
                    <c:v>English Potatoes (Medium)</c:v>
                  </c:pt>
                  <c:pt idx="10">
                    <c:v>Broccoli</c:v>
                  </c:pt>
                  <c:pt idx="11">
                    <c:v>Cucumbers</c:v>
                  </c:pt>
                </c:lvl>
              </c:multiLvlStrCache>
            </c:multiLvlStrRef>
          </c:cat>
          <c:val>
            <c:numRef>
              <c:f>Sheet1!$B$2:$B$13</c:f>
              <c:numCache>
                <c:formatCode>General</c:formatCode>
                <c:ptCount val="12"/>
                <c:pt idx="0">
                  <c:v>-54.5</c:v>
                </c:pt>
                <c:pt idx="1">
                  <c:v>-53</c:v>
                </c:pt>
                <c:pt idx="2">
                  <c:v>-49.9</c:v>
                </c:pt>
                <c:pt idx="3">
                  <c:v>-46.9</c:v>
                </c:pt>
                <c:pt idx="4">
                  <c:v>-43.6</c:v>
                </c:pt>
                <c:pt idx="5">
                  <c:v>-43.2</c:v>
                </c:pt>
                <c:pt idx="6">
                  <c:v>-37.4</c:v>
                </c:pt>
                <c:pt idx="7">
                  <c:v>-24.9</c:v>
                </c:pt>
                <c:pt idx="8">
                  <c:v>-23.9</c:v>
                </c:pt>
                <c:pt idx="9">
                  <c:v>-11.1</c:v>
                </c:pt>
                <c:pt idx="10">
                  <c:v>-6.6</c:v>
                </c:pt>
                <c:pt idx="11">
                  <c:v>53.7</c:v>
                </c:pt>
              </c:numCache>
            </c:numRef>
          </c:val>
        </c:ser>
        <c:ser>
          <c:idx val="1"/>
          <c:order val="1"/>
          <c:tx>
            <c:strRef>
              <c:f>Sheet1!$C$1</c:f>
              <c:strCache>
                <c:ptCount val="1"/>
                <c:pt idx="0">
                  <c:v>vs Supermarket B</c:v>
                </c:pt>
              </c:strCache>
            </c:strRef>
          </c:tx>
          <c:spPr>
            <a:solidFill>
              <a:srgbClr val="4A6FA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Zucchini</c:v>
                  </c:pt>
                  <c:pt idx="1">
                    <c:v>Carrots</c:v>
                  </c:pt>
                  <c:pt idx="2">
                    <c:v>Red Cabbage</c:v>
                  </c:pt>
                  <c:pt idx="3">
                    <c:v>Local Cabbage</c:v>
                  </c:pt>
                  <c:pt idx="4">
                    <c:v>Red Onions</c:v>
                  </c:pt>
                  <c:pt idx="5">
                    <c:v>Pumpkin</c:v>
                  </c:pt>
                  <c:pt idx="6">
                    <c:v>Romaine Lettuce</c:v>
                  </c:pt>
                  <c:pt idx="7">
                    <c:v>Iceberg Lettuce</c:v>
                  </c:pt>
                  <c:pt idx="8">
                    <c:v>Cauliflower</c:v>
                  </c:pt>
                  <c:pt idx="9">
                    <c:v>English Potatoes (Medium)</c:v>
                  </c:pt>
                  <c:pt idx="10">
                    <c:v>Broccoli</c:v>
                  </c:pt>
                  <c:pt idx="11">
                    <c:v>Cucumbers</c:v>
                  </c:pt>
                </c:lvl>
              </c:multiLvlStrCache>
            </c:multiLvlStrRef>
          </c:cat>
          <c:val>
            <c:numRef>
              <c:f>Sheet1!$C$2:$C$13</c:f>
              <c:numCache>
                <c:formatCode>General</c:formatCode>
                <c:ptCount val="12"/>
                <c:pt idx="0">
                  <c:v>-66</c:v>
                </c:pt>
                <c:pt idx="1">
                  <c:v>-24.2</c:v>
                </c:pt>
                <c:pt idx="2">
                  <c:v>-49.9</c:v>
                </c:pt>
                <c:pt idx="3">
                  <c:v>-55.6</c:v>
                </c:pt>
                <c:pt idx="4">
                  <c:v>-62.5</c:v>
                </c:pt>
                <c:pt idx="5">
                  <c:v>-62.2</c:v>
                </c:pt>
                <c:pt idx="6">
                  <c:v>-13.6</c:v>
                </c:pt>
                <c:pt idx="7">
                  <c:v>-35.6</c:v>
                </c:pt>
                <c:pt idx="8">
                  <c:v>-36.6</c:v>
                </c:pt>
                <c:pt idx="9">
                  <c:v>-22.8</c:v>
                </c:pt>
                <c:pt idx="10">
                  <c:v>-12.4</c:v>
                </c:pt>
                <c:pt idx="11">
                  <c:v>59.5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A1F"/>
                </a:solidFill>
                <a:latin typeface="Arial"/>
              </a:defRPr>
            </a:pPr>
            <a:endParaRPr lang="en-US"/>
          </a:p>
        </c:txPr>
        <c:crossAx val="2094734552"/>
        <c:crosses val="autoZero"/>
        <c:auto val="1"/>
        <c:lblAlgn val="ctr"/>
        <c:noMultiLvlLbl val="1"/>
      </c:catAx>
      <c:valAx>
        <c:axId val="2094734552"/>
        <c:scaling>
          <c:orientation val="minMax"/>
          <c:max val="80"/>
          <c:min val="-80"/>
        </c:scaling>
        <c:delete val="0"/>
        <c:axPos val="b"/>
        <c:majorGridlines>
          <c:spPr>
            <a:ln w="6350" cap="flat">
              <a:solidFill>
                <a:srgbClr val="E3E8DF"/>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5C6B5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A1F"/>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Basket (BBD)</c:v>
                </c:pt>
              </c:strCache>
            </c:strRef>
          </c:tx>
          <c:spPr>
            <a:solidFill>
              <a:srgbClr val="2C5F2D"/>
            </a:solidFill>
            <a:effectLst/>
          </c:spPr>
          <c:invertIfNegative val="0"/>
          <c:dLbls>
            <c:numFmt formatCode="&quot;BBD &quot;#,##0.00" sourceLinked="0"/>
            <c:txPr>
              <a:bodyPr/>
              <a:lstStyle/>
              <a:p>
                <a:pPr>
                  <a:defRPr b="1" i="0" strike="noStrike" sz="1400" u="none">
                    <a:solidFill>
                      <a:srgbClr val="1F2A1F"/>
                    </a:solidFill>
                    <a:latin typeface="Arial"/>
                  </a:defRPr>
                </a:pPr>
              </a:p>
            </c:txPr>
            <c:showLegendKey val="0"/>
            <c:showVal val="1"/>
            <c:showCatName val="0"/>
            <c:showSerName val="0"/>
            <c:showPercent val="0"/>
            <c:showBubbleSize val="0"/>
            <c:showLeaderLines val="0"/>
          </c:dLbls>
          <c:dPt>
            <c:idx val="0"/>
            <c:invertIfNegative val="0"/>
            <c:bubble3D val="0"/>
            <c:spPr>
              <a:solidFill>
                <a:srgbClr val="2C5F2D"/>
              </a:solidFill>
              <a:effectLst/>
            </c:spPr>
          </c:dPt>
          <c:dPt>
            <c:idx val="1"/>
            <c:invertIfNegative val="0"/>
            <c:bubble3D val="0"/>
            <c:spPr>
              <a:solidFill>
                <a:srgbClr val="EB6834"/>
              </a:solidFill>
              <a:effectLst/>
            </c:spPr>
          </c:dPt>
          <c:dPt>
            <c:idx val="2"/>
            <c:invertIfNegative val="0"/>
            <c:bubble3D val="0"/>
            <c:spPr>
              <a:solidFill>
                <a:srgbClr val="4A6FA5"/>
              </a:solidFill>
              <a:effectLst/>
            </c:spPr>
          </c:dPt>
          <c:cat>
            <c:multiLvlStrRef>
              <c:f>Sheet1!$A$2:$A$4</c:f>
              <c:multiLvlStrCache>
                <c:ptCount val="3"/>
                <c:lvl>
                  <c:pt idx="0">
                    <c:v>Food First</c:v>
                  </c:pt>
                  <c:pt idx="1">
                    <c:v>Supermarket A</c:v>
                  </c:pt>
                  <c:pt idx="2">
                    <c:v>Supermarket B</c:v>
                  </c:pt>
                </c:lvl>
              </c:multiLvlStrCache>
            </c:multiLvlStrRef>
          </c:cat>
          <c:val>
            <c:numRef>
              <c:f>Sheet1!$B$2:$B$4</c:f>
              <c:numCache>
                <c:formatCode>General</c:formatCode>
                <c:ptCount val="3"/>
                <c:pt idx="0">
                  <c:v>301.31</c:v>
                </c:pt>
                <c:pt idx="1">
                  <c:v>373.18</c:v>
                </c:pt>
                <c:pt idx="2">
                  <c:v>425.03</c:v>
                </c:pt>
              </c:numCache>
            </c:numRef>
          </c:val>
        </c:ser>
        <c:dLbls>
          <c:numFmt formatCode="&quot;BBD &quot;#,##0.00" sourceLinked="0"/>
          <c:txPr>
            <a:bodyPr/>
            <a:lstStyle/>
            <a:p>
              <a:pPr>
                <a:defRPr b="1" i="0" strike="noStrike" sz="1400" u="none">
                  <a:solidFill>
                    <a:srgbClr val="1F2A1F"/>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A1F"/>
                </a:solidFill>
                <a:latin typeface="Arial"/>
              </a:defRPr>
            </a:pPr>
            <a:endParaRPr lang="en-US"/>
          </a:p>
        </c:txPr>
        <c:crossAx val="2094734552"/>
        <c:crosses val="autoZero"/>
        <c:auto val="1"/>
        <c:lblAlgn val="ctr"/>
        <c:noMultiLvlLbl val="1"/>
      </c:catAx>
      <c:valAx>
        <c:axId val="2094734552"/>
        <c:scaling>
          <c:orientation val="minMax"/>
          <c:max val="500"/>
          <c:min val="0"/>
        </c:scaling>
        <c:delete val="0"/>
        <c:axPos val="l"/>
        <c:majorGridlines>
          <c:spPr>
            <a:ln w="6350" cap="flat">
              <a:solidFill>
                <a:srgbClr val="E3E8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5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Thank you for having me. My name is Daniella Clarke and this summer I interned with the Heart &amp; Stroke Foundation of Barbados. For the next ten minutes I want to take you grocery shopping. Not literally, but close. We asked a simple question that every Barbadian household asks on a Saturday morning: where is the food cheapest? Specifically, we wanted to know whether Food First, a supplier that imports fruit, vegetables and a few dairy items directly from Europe, can beat our two biggest supermarket chains on price. I'll show you how we checked, what we found, and why it matters for the Foundation's work on healthy eating. Spoiler: there's a clear winner, but with some interesting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why does a heart foundation care about grocery prices? Three numbers tell the story. Forty-two percent of children in Barbados are now overweight or obese. That figure was thirty-three percent not long ago, so it is moving in the wrong direction. Those children grow into adults, and today more than eight in ten deaths in Barbados are from non-communicable diseases: diabetes, hypertension, heart disease and some cancers. And about eighty-five percent of the food we eat is imported, which means our grocery bills rise and fall with the world market. HSFB keeps urging parents to feed children more whole foods, more fruit and vegetables. But the honest reply we hear is: "that's expensive". So we decided to find out whether it has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the question in one sentence: if a supplier brings whole foods straight from Europe, is it actually cheaper for a family than the supermarket? We went in with a hypothesis. Our bet was yes: direct import and a shorter supply chain should mean lower prices. The sceptic's view, our null hypothesis, is that there is no consistent difference and any saving is just luck of the draw. One ground rule before we go on. The two supermarkets facilitated the study on the understanding that they would not be named. So you'll hear me say Supermarket A and Supermarket B. Food First is named because it is the subject of the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did we do it? Four steps. One: we started from Food First's own price list, ninety-five products, each priced per kilogram, per litre or per unit. Two: I visited Supermarket A and Supermarket B in August and recorded the shelf price and pack size of every product I could match. No photographs, just a notebook and a lot of patience in the produce aisle. Three: we standardised everything to the same unit. If a supermarket sells jalapeños in a 340 gram pack, we convert that to a per-kilogram price so it lines up with Food First. Four: we kept only the items that could be compared at all three stores on an identical basis. That left thirty-six items; the rest were excluded, either because the supermarkets didn't stock them or because the units couldn't be reconciled. The maths is one line: Food First price minus supermarket price, divided by the supermarket price. Negative means Food First is cheaper. And because a few wild outliers can drag an average around, we lean on the median, the typical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simplest scoreboard. For each of the thirty-six items, which store had the lowest price? Food First won 27 of them. That's 75%. Supermarket A took 8, and Supermarket B just 1. So on three out of every four items, the direct importer beat both supermarkets. That already tells us this isn't a coin flip. But "cheapest" could mean cheaper by a cent. The next question is: by how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how much? Take the typical item, the median. At Food First it costs 24.4% less than at Supermarket A and 23.5% less than at Supermarket B. Roughly a quarter off. The simple averages are a little smaller, −16.4% and −22.7%, and that gap is worth a word. A few items, led by mangoes at more than double the supermarket price, pull the average towards zero. The median doesn't care about outliers, which is why we lead with it. Either way, the direction is the same: Food First is cheaper, and not by a little.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go round by round. Vegetables are the knockout: the typical vegetable is 40% cheaper at Food First than at Supermarket A and 36% cheaper than at Supermarket B. Food First beat both supermarkets on 11 of 12 vegetables. Grocery and dairy are just as strong: medians of 42% and 46%, with Food First cheaper than both stores on 5 of 6 items. Fruit is where it gets interesting. Against Supermarket A the typical fruit is basically a draw, about 1% cheaper; against Supermarket B it's 13%. Food First won on 11 of 18, so it still wins more than it loses, but this is the category with real exceptions. Let's look at the winners and losers.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all twelve vegetables, sorted. Almost every bar points left, meaning cheaper at Food First. Zucchini is 55% cheaper than Supermarket A and 66% cheaper than Supermarket B. Red onions, pumpkin and cabbage are all forty to sixty percent cheaper. Even humble carrots are half the price of Supermarket A. There is one rebel: cucumbers. Food First's cucumbers cost about half as much again as the supermarkets'. Every champion has an off night. But look at what's on that list: cabbage, carrots, pumpkin, onions, lettuce. These are exactly the everyday vegetables HSFB wants on children's plates, and they are where the saving is biggest.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Fruit is the mixed bag, and it's the most interesting slide. On the left, the wins: a Gala apple is 75% cheaper at Food First, pears 70% cheaper, oranges and watermelon a third cheaper. On the right, the losses, and they are loud. Mangoes at Food First cost more than double the Supermarket A price: +124%. Red apples are +67%. Kiwis and grapefruit are a bit dearer against Supermarket A. There is a pattern here. The fruit that grows in temperate Europe, apples and pears, is cheaper when it comes straight from Europe. The fruit that grows in the tropics, like mangoes, is cheaper at the supermarkets that can buy it regionally. Which makes sense: you don't want to fly a mango across the Atlantic to sell it in Barbados.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grocery and dairy items are the quiet achievers. Whole milk is 41% cheaper per litre. Cooking cream and whipping cream are forty to fifty percent cheaper. Local onions are 43% cheaper. Eggs are almost a tie, a few cents a dozen. And oat milk is the one item where Supermarket A edges it, by less than one percent. So five of six grocery items cheaper, and nothing here where Food First is clearly worse. For a family's weekly staples, that matters as much as the 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make it concrete. Imagine you put one unit of each of the thirty-six items in a basket: a kilo of this, a litre of that, a dozen eggs. At Food First the basket comes to BBD 301.31. At Supermarket A it's BBD 373.18, and at Supermarket B BBD 425.03. That's BBD 71.87 saved against Supermarket A and BBD 123.72 against Supermarket B, roughly nineteen and twenty-nine percent. A caveat: this is one unit of everything, not a realistic family shop. But the direction and the size of the gap are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mean for the Foundation? Three things. First, the foods where Food First is cheapest are the foods we most want families to buy: cabbage, carrots, pumpkin, onions, zucchini, lettuce, milk. The saving lands exactly where it does the most good. Second, it gives us an honest answer to "healthy food is too expensive". It can be expensive. But on this evidence, with this channel, the typical whole-food item is about a quarter cheaper. Price doesn't have to be the thing that stops a family. Third, it's a story we can tell. Parents, teachers and policymakers respond to real numbers from real shelves, and this gives HSFB a concrete example to point to in its advocacy and its childhood obesity prevention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fine print, because good evidence is honest about its limits. This is one snapshot: one visit per store in August. Promotions and seasonal swings aren't captured; mango prices in May could look very different. It covers thirty-six of Food First's ninety-five products, only those sold on an identical basis at all three stores. Berries, seasonings and sauces are missing. Every item counts equally, whereas a real family buys a lot more onions than dragonfruit. And we compared price only, not freshness, grade or origin. None of this overturns the result, but it tells us what to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next? Four things. Repeat the survey two or three more times across the year to see whether the gap holds through the seasons. Record pack weights for the per-unit items so we can bring more of the ninety-five products into the comparison. Build a household-weighted healthy basket, so we can say "this family saves X dollars a week" rather than quoting percentages. And share the findings, because this is a story worth telling. To sum up: on thirty-six like-for-like items, Food First was cheapest three times out of four, the typical item was about a quarter cheaper, and the biggest savings were on exactly the vegetables and staples we want on children's plates. Thank you for listening. The full report and workbook are available from the Foundation, and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8229600" y="1097280"/>
            <a:ext cx="3291840" cy="3291840"/>
          </a:xfrm>
          <a:prstGeom prst="ellipse">
            <a:avLst/>
          </a:prstGeom>
          <a:solidFill>
            <a:srgbClr val="97BC62"/>
          </a:solidFill>
          <a:ln w="12700">
            <a:solidFill>
              <a:srgbClr val="97BC62"/>
            </a:solidFill>
            <a:prstDash val="solid"/>
          </a:ln>
        </p:spPr>
      </p:sp>
      <p:pic>
        <p:nvPicPr>
          <p:cNvPr id="3" name="Image 0" descr="preencoded.png">    </p:cNvPr>
          <p:cNvPicPr>
            <a:picLocks noChangeAspect="1"/>
          </p:cNvPicPr>
          <p:nvPr/>
        </p:nvPicPr>
        <p:blipFill>
          <a:blip r:embed="rId1"/>
          <a:stretch>
            <a:fillRect/>
          </a:stretch>
        </p:blipFill>
        <p:spPr>
          <a:xfrm>
            <a:off x="8961120" y="1828800"/>
            <a:ext cx="1828800" cy="1828800"/>
          </a:xfrm>
          <a:prstGeom prst="rect">
            <a:avLst/>
          </a:prstGeom>
        </p:spPr>
      </p:pic>
      <p:sp>
        <p:nvSpPr>
          <p:cNvPr id="4" name="Text 1"/>
          <p:cNvSpPr txBox="1"/>
          <p:nvPr/>
        </p:nvSpPr>
        <p:spPr>
          <a:xfrm>
            <a:off x="731520" y="868680"/>
            <a:ext cx="7132320" cy="548640"/>
          </a:xfrm>
          <a:prstGeom prst="rect">
            <a:avLst/>
          </a:prstGeom>
          <a:noFill/>
          <a:ln/>
        </p:spPr>
        <p:txBody>
          <a:bodyPr wrap="square" lIns="0" tIns="0" rIns="0" bIns="0" rtlCol="0" anchor="ctr"/>
          <a:lstStyle/>
          <a:p>
            <a:pPr indent="0" marL="0">
              <a:buNone/>
            </a:pPr>
            <a:r>
              <a:rPr lang="en-US" sz="2800" b="1" spc="600" kern="0" dirty="0">
                <a:solidFill>
                  <a:srgbClr val="F2C14E"/>
                </a:solidFill>
                <a:latin typeface="Calibri" pitchFamily="34" charset="0"/>
                <a:ea typeface="Calibri" pitchFamily="34" charset="-122"/>
                <a:cs typeface="Calibri" pitchFamily="34" charset="-120"/>
              </a:rPr>
              <a:t>THE GREAT</a:t>
            </a:r>
            <a:endParaRPr lang="en-US" sz="2800" dirty="0"/>
          </a:p>
        </p:txBody>
      </p:sp>
      <p:sp>
        <p:nvSpPr>
          <p:cNvPr id="5" name="Text 2"/>
          <p:cNvSpPr txBox="1"/>
          <p:nvPr/>
        </p:nvSpPr>
        <p:spPr>
          <a:xfrm>
            <a:off x="731520" y="1417320"/>
            <a:ext cx="7315200" cy="192024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Grocery Showdown</a:t>
            </a:r>
            <a:endParaRPr lang="en-US" sz="5400" dirty="0"/>
          </a:p>
        </p:txBody>
      </p:sp>
      <p:sp>
        <p:nvSpPr>
          <p:cNvPr id="6" name="Text 3"/>
          <p:cNvSpPr txBox="1"/>
          <p:nvPr/>
        </p:nvSpPr>
        <p:spPr>
          <a:xfrm>
            <a:off x="731520" y="3520440"/>
            <a:ext cx="6949440" cy="914400"/>
          </a:xfrm>
          <a:prstGeom prst="rect">
            <a:avLst/>
          </a:prstGeom>
          <a:noFill/>
          <a:ln/>
        </p:spPr>
        <p:txBody>
          <a:bodyPr wrap="square" lIns="0" tIns="0" rIns="0" bIns="0" rtlCol="0" anchor="ctr"/>
          <a:lstStyle/>
          <a:p>
            <a:pPr indent="0" marL="0">
              <a:buNone/>
            </a:pPr>
            <a:r>
              <a:rPr lang="en-US" sz="2000" dirty="0">
                <a:solidFill>
                  <a:srgbClr val="DCE8D4"/>
                </a:solidFill>
                <a:latin typeface="Calibri" pitchFamily="34" charset="0"/>
                <a:ea typeface="Calibri" pitchFamily="34" charset="-122"/>
                <a:cs typeface="Calibri" pitchFamily="34" charset="-120"/>
              </a:rPr>
              <a:t>Food First vs two Barbados supermarkets: who really has the better prices on whole foods?</a:t>
            </a:r>
            <a:endParaRPr lang="en-US" sz="2000" dirty="0"/>
          </a:p>
        </p:txBody>
      </p:sp>
      <p:sp>
        <p:nvSpPr>
          <p:cNvPr id="7" name="Text 4"/>
          <p:cNvSpPr txBox="1"/>
          <p:nvPr/>
        </p:nvSpPr>
        <p:spPr>
          <a:xfrm>
            <a:off x="731520" y="4937760"/>
            <a:ext cx="7315200" cy="8229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Ms. Daniella Clarke, HSFB intern</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Heart &amp; Stroke Foundation of Barbados  |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822960"/>
          </a:xfrm>
          <a:prstGeom prst="rect">
            <a:avLst/>
          </a:prstGeom>
          <a:noFill/>
          <a:ln/>
        </p:spPr>
        <p:txBody>
          <a:bodyPr wrap="square" lIns="0" tIns="0" rIns="0" bIns="0" rtlCol="0" anchor="ctr"/>
          <a:lstStyle/>
          <a:p>
            <a:pPr indent="0" marL="0">
              <a:buNone/>
            </a:pPr>
            <a:r>
              <a:rPr lang="en-US" sz="3600" b="1" dirty="0">
                <a:solidFill>
                  <a:srgbClr val="2C5F2D"/>
                </a:solidFill>
                <a:latin typeface="Calibri" pitchFamily="34" charset="0"/>
                <a:ea typeface="Calibri" pitchFamily="34" charset="-122"/>
                <a:cs typeface="Calibri" pitchFamily="34" charset="-120"/>
              </a:rPr>
              <a:t>Why we went shopping</a:t>
            </a:r>
            <a:endParaRPr lang="en-US" sz="3600" dirty="0"/>
          </a:p>
        </p:txBody>
      </p:sp>
      <p:sp>
        <p:nvSpPr>
          <p:cNvPr id="3" name="Text 1"/>
          <p:cNvSpPr txBox="1"/>
          <p:nvPr/>
        </p:nvSpPr>
        <p:spPr>
          <a:xfrm>
            <a:off x="548640" y="1188720"/>
            <a:ext cx="11091672" cy="457200"/>
          </a:xfrm>
          <a:prstGeom prst="rect">
            <a:avLst/>
          </a:prstGeom>
          <a:noFill/>
          <a:ln/>
        </p:spPr>
        <p:txBody>
          <a:bodyPr wrap="square" lIns="0" tIns="0" rIns="0" bIns="0" rtlCol="0" anchor="ctr"/>
          <a:lstStyle/>
          <a:p>
            <a:pPr indent="0" marL="0">
              <a:buNone/>
            </a:pPr>
            <a:r>
              <a:rPr lang="en-US" sz="1600" dirty="0">
                <a:solidFill>
                  <a:srgbClr val="5C6B5C"/>
                </a:solidFill>
                <a:latin typeface="Calibri" pitchFamily="34" charset="0"/>
                <a:ea typeface="Calibri" pitchFamily="34" charset="-122"/>
                <a:cs typeface="Calibri" pitchFamily="34" charset="-120"/>
              </a:rPr>
              <a:t>Barbados is fighting non-communicable diseases, and the fight starts on the plate</a:t>
            </a:r>
            <a:endParaRPr lang="en-US" sz="1600" dirty="0"/>
          </a:p>
        </p:txBody>
      </p:sp>
      <p:sp>
        <p:nvSpPr>
          <p:cNvPr id="4" name="Shape 2"/>
          <p:cNvSpPr/>
          <p:nvPr/>
        </p:nvSpPr>
        <p:spPr>
          <a:xfrm>
            <a:off x="548640" y="1920240"/>
            <a:ext cx="3520440" cy="3566160"/>
          </a:xfrm>
          <a:prstGeom prst="roundRect">
            <a:avLst>
              <a:gd name="adj" fmla="val 3896"/>
            </a:avLst>
          </a:prstGeom>
          <a:solidFill>
            <a:srgbClr val="EEF4E8"/>
          </a:solidFill>
          <a:ln w="12700">
            <a:solidFill>
              <a:srgbClr val="EEF4E8"/>
            </a:solidFill>
            <a:prstDash val="solid"/>
          </a:ln>
        </p:spPr>
      </p:sp>
      <p:sp>
        <p:nvSpPr>
          <p:cNvPr id="5" name="Shape 3"/>
          <p:cNvSpPr/>
          <p:nvPr/>
        </p:nvSpPr>
        <p:spPr>
          <a:xfrm>
            <a:off x="868680" y="2194560"/>
            <a:ext cx="822960" cy="822960"/>
          </a:xfrm>
          <a:prstGeom prst="ellipse">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1074420" y="2400300"/>
            <a:ext cx="411480" cy="411480"/>
          </a:xfrm>
          <a:prstGeom prst="rect">
            <a:avLst/>
          </a:prstGeom>
        </p:spPr>
      </p:pic>
      <p:sp>
        <p:nvSpPr>
          <p:cNvPr id="7" name="Text 4"/>
          <p:cNvSpPr txBox="1"/>
          <p:nvPr/>
        </p:nvSpPr>
        <p:spPr>
          <a:xfrm>
            <a:off x="868680" y="3154680"/>
            <a:ext cx="2926080" cy="914400"/>
          </a:xfrm>
          <a:prstGeom prst="rect">
            <a:avLst/>
          </a:prstGeom>
          <a:noFill/>
          <a:ln/>
        </p:spPr>
        <p:txBody>
          <a:bodyPr wrap="square" lIns="0" tIns="0" rIns="0" bIns="0" rtlCol="0" anchor="ctr"/>
          <a:lstStyle/>
          <a:p>
            <a:pPr indent="0" marL="0">
              <a:buNone/>
            </a:pPr>
            <a:r>
              <a:rPr lang="en-US" sz="5400" b="1" dirty="0">
                <a:solidFill>
                  <a:srgbClr val="2C5F2D"/>
                </a:solidFill>
                <a:latin typeface="Calibri" pitchFamily="34" charset="0"/>
                <a:ea typeface="Calibri" pitchFamily="34" charset="-122"/>
                <a:cs typeface="Calibri" pitchFamily="34" charset="-120"/>
              </a:rPr>
              <a:t>42%</a:t>
            </a:r>
            <a:endParaRPr lang="en-US" sz="5400" dirty="0"/>
          </a:p>
        </p:txBody>
      </p:sp>
      <p:sp>
        <p:nvSpPr>
          <p:cNvPr id="8" name="Text 5"/>
          <p:cNvSpPr txBox="1"/>
          <p:nvPr/>
        </p:nvSpPr>
        <p:spPr>
          <a:xfrm>
            <a:off x="868680" y="4114800"/>
            <a:ext cx="2926080" cy="1188720"/>
          </a:xfrm>
          <a:prstGeom prst="rect">
            <a:avLst/>
          </a:prstGeom>
          <a:noFill/>
          <a:ln/>
        </p:spPr>
        <p:txBody>
          <a:bodyPr wrap="square" lIns="0" tIns="0" rIns="0" bIns="0" rtlCol="0" anchor="t"/>
          <a:lstStyle/>
          <a:p>
            <a:pPr indent="0" marL="0">
              <a:buNone/>
            </a:pPr>
            <a:r>
              <a:rPr lang="en-US" sz="1500" dirty="0">
                <a:solidFill>
                  <a:srgbClr val="1F2A1F"/>
                </a:solidFill>
                <a:latin typeface="Calibri" pitchFamily="34" charset="0"/>
                <a:ea typeface="Calibri" pitchFamily="34" charset="-122"/>
                <a:cs typeface="Calibri" pitchFamily="34" charset="-120"/>
              </a:rPr>
              <a:t>of children in Barbados are overweight or obese, up from 33%</a:t>
            </a:r>
            <a:endParaRPr lang="en-US" sz="1500" dirty="0"/>
          </a:p>
        </p:txBody>
      </p:sp>
      <p:sp>
        <p:nvSpPr>
          <p:cNvPr id="9" name="Shape 6"/>
          <p:cNvSpPr/>
          <p:nvPr/>
        </p:nvSpPr>
        <p:spPr>
          <a:xfrm>
            <a:off x="4297680" y="1920240"/>
            <a:ext cx="3520440" cy="3566160"/>
          </a:xfrm>
          <a:prstGeom prst="roundRect">
            <a:avLst>
              <a:gd name="adj" fmla="val 3896"/>
            </a:avLst>
          </a:prstGeom>
          <a:solidFill>
            <a:srgbClr val="EEF4E8"/>
          </a:solidFill>
          <a:ln w="12700">
            <a:solidFill>
              <a:srgbClr val="EEF4E8"/>
            </a:solidFill>
            <a:prstDash val="solid"/>
          </a:ln>
        </p:spPr>
      </p:sp>
      <p:sp>
        <p:nvSpPr>
          <p:cNvPr id="10" name="Shape 7"/>
          <p:cNvSpPr/>
          <p:nvPr/>
        </p:nvSpPr>
        <p:spPr>
          <a:xfrm>
            <a:off x="4617720" y="2194560"/>
            <a:ext cx="822960" cy="822960"/>
          </a:xfrm>
          <a:prstGeom prst="ellipse">
            <a:avLst/>
          </a:prstGeom>
          <a:solidFill>
            <a:srgbClr val="D7263D"/>
          </a:solidFill>
          <a:ln w="12700">
            <a:solidFill>
              <a:srgbClr val="D7263D"/>
            </a:solidFill>
            <a:prstDash val="solid"/>
          </a:ln>
        </p:spPr>
      </p:sp>
      <p:pic>
        <p:nvPicPr>
          <p:cNvPr id="11" name="Image 1" descr="preencoded.png">    </p:cNvPr>
          <p:cNvPicPr>
            <a:picLocks noChangeAspect="1"/>
          </p:cNvPicPr>
          <p:nvPr/>
        </p:nvPicPr>
        <p:blipFill>
          <a:blip r:embed="rId2"/>
          <a:stretch>
            <a:fillRect/>
          </a:stretch>
        </p:blipFill>
        <p:spPr>
          <a:xfrm>
            <a:off x="4823460" y="2400300"/>
            <a:ext cx="411480" cy="411480"/>
          </a:xfrm>
          <a:prstGeom prst="rect">
            <a:avLst/>
          </a:prstGeom>
        </p:spPr>
      </p:pic>
      <p:sp>
        <p:nvSpPr>
          <p:cNvPr id="12" name="Text 8"/>
          <p:cNvSpPr txBox="1"/>
          <p:nvPr/>
        </p:nvSpPr>
        <p:spPr>
          <a:xfrm>
            <a:off x="4617720" y="3154680"/>
            <a:ext cx="2926080" cy="914400"/>
          </a:xfrm>
          <a:prstGeom prst="rect">
            <a:avLst/>
          </a:prstGeom>
          <a:noFill/>
          <a:ln/>
        </p:spPr>
        <p:txBody>
          <a:bodyPr wrap="square" lIns="0" tIns="0" rIns="0" bIns="0" rtlCol="0" anchor="ctr"/>
          <a:lstStyle/>
          <a:p>
            <a:pPr indent="0" marL="0">
              <a:buNone/>
            </a:pPr>
            <a:r>
              <a:rPr lang="en-US" sz="5400" b="1" dirty="0">
                <a:solidFill>
                  <a:srgbClr val="D7263D"/>
                </a:solidFill>
                <a:latin typeface="Calibri" pitchFamily="34" charset="0"/>
                <a:ea typeface="Calibri" pitchFamily="34" charset="-122"/>
                <a:cs typeface="Calibri" pitchFamily="34" charset="-120"/>
              </a:rPr>
              <a:t>82.8%</a:t>
            </a:r>
            <a:endParaRPr lang="en-US" sz="5400" dirty="0"/>
          </a:p>
        </p:txBody>
      </p:sp>
      <p:sp>
        <p:nvSpPr>
          <p:cNvPr id="13" name="Text 9"/>
          <p:cNvSpPr txBox="1"/>
          <p:nvPr/>
        </p:nvSpPr>
        <p:spPr>
          <a:xfrm>
            <a:off x="4617720" y="4114800"/>
            <a:ext cx="2926080" cy="1188720"/>
          </a:xfrm>
          <a:prstGeom prst="rect">
            <a:avLst/>
          </a:prstGeom>
          <a:noFill/>
          <a:ln/>
        </p:spPr>
        <p:txBody>
          <a:bodyPr wrap="square" lIns="0" tIns="0" rIns="0" bIns="0" rtlCol="0" anchor="t"/>
          <a:lstStyle/>
          <a:p>
            <a:pPr indent="0" marL="0">
              <a:buNone/>
            </a:pPr>
            <a:r>
              <a:rPr lang="en-US" sz="1500" dirty="0">
                <a:solidFill>
                  <a:srgbClr val="1F2A1F"/>
                </a:solidFill>
                <a:latin typeface="Calibri" pitchFamily="34" charset="0"/>
                <a:ea typeface="Calibri" pitchFamily="34" charset="-122"/>
                <a:cs typeface="Calibri" pitchFamily="34" charset="-120"/>
              </a:rPr>
              <a:t>of all deaths in Barbados are from non-communicable diseases</a:t>
            </a:r>
            <a:endParaRPr lang="en-US" sz="1500" dirty="0"/>
          </a:p>
        </p:txBody>
      </p:sp>
      <p:sp>
        <p:nvSpPr>
          <p:cNvPr id="14" name="Shape 10"/>
          <p:cNvSpPr/>
          <p:nvPr/>
        </p:nvSpPr>
        <p:spPr>
          <a:xfrm>
            <a:off x="8046720" y="1920240"/>
            <a:ext cx="3520440" cy="3566160"/>
          </a:xfrm>
          <a:prstGeom prst="roundRect">
            <a:avLst>
              <a:gd name="adj" fmla="val 3896"/>
            </a:avLst>
          </a:prstGeom>
          <a:solidFill>
            <a:srgbClr val="EEF4E8"/>
          </a:solidFill>
          <a:ln w="12700">
            <a:solidFill>
              <a:srgbClr val="EEF4E8"/>
            </a:solidFill>
            <a:prstDash val="solid"/>
          </a:ln>
        </p:spPr>
      </p:sp>
      <p:sp>
        <p:nvSpPr>
          <p:cNvPr id="15" name="Shape 11"/>
          <p:cNvSpPr/>
          <p:nvPr/>
        </p:nvSpPr>
        <p:spPr>
          <a:xfrm>
            <a:off x="8366760" y="2194560"/>
            <a:ext cx="822960" cy="822960"/>
          </a:xfrm>
          <a:prstGeom prst="ellipse">
            <a:avLst/>
          </a:prstGeom>
          <a:solidFill>
            <a:srgbClr val="4A6FA5"/>
          </a:solidFill>
          <a:ln w="12700">
            <a:solidFill>
              <a:srgbClr val="4A6FA5"/>
            </a:solidFill>
            <a:prstDash val="solid"/>
          </a:ln>
        </p:spPr>
      </p:sp>
      <p:pic>
        <p:nvPicPr>
          <p:cNvPr id="16" name="Image 2" descr="preencoded.png">    </p:cNvPr>
          <p:cNvPicPr>
            <a:picLocks noChangeAspect="1"/>
          </p:cNvPicPr>
          <p:nvPr/>
        </p:nvPicPr>
        <p:blipFill>
          <a:blip r:embed="rId3"/>
          <a:stretch>
            <a:fillRect/>
          </a:stretch>
        </p:blipFill>
        <p:spPr>
          <a:xfrm>
            <a:off x="8572500" y="2400300"/>
            <a:ext cx="411480" cy="411480"/>
          </a:xfrm>
          <a:prstGeom prst="rect">
            <a:avLst/>
          </a:prstGeom>
        </p:spPr>
      </p:pic>
      <p:sp>
        <p:nvSpPr>
          <p:cNvPr id="17" name="Text 12"/>
          <p:cNvSpPr txBox="1"/>
          <p:nvPr/>
        </p:nvSpPr>
        <p:spPr>
          <a:xfrm>
            <a:off x="8366760" y="3154680"/>
            <a:ext cx="2926080" cy="914400"/>
          </a:xfrm>
          <a:prstGeom prst="rect">
            <a:avLst/>
          </a:prstGeom>
          <a:noFill/>
          <a:ln/>
        </p:spPr>
        <p:txBody>
          <a:bodyPr wrap="square" lIns="0" tIns="0" rIns="0" bIns="0" rtlCol="0" anchor="ctr"/>
          <a:lstStyle/>
          <a:p>
            <a:pPr indent="0" marL="0">
              <a:buNone/>
            </a:pPr>
            <a:r>
              <a:rPr lang="en-US" sz="5400" b="1" dirty="0">
                <a:solidFill>
                  <a:srgbClr val="4A6FA5"/>
                </a:solidFill>
                <a:latin typeface="Calibri" pitchFamily="34" charset="0"/>
                <a:ea typeface="Calibri" pitchFamily="34" charset="-122"/>
                <a:cs typeface="Calibri" pitchFamily="34" charset="-120"/>
              </a:rPr>
              <a:t>~85%</a:t>
            </a:r>
            <a:endParaRPr lang="en-US" sz="5400" dirty="0"/>
          </a:p>
        </p:txBody>
      </p:sp>
      <p:sp>
        <p:nvSpPr>
          <p:cNvPr id="18" name="Text 13"/>
          <p:cNvSpPr txBox="1"/>
          <p:nvPr/>
        </p:nvSpPr>
        <p:spPr>
          <a:xfrm>
            <a:off x="8366760" y="4114800"/>
            <a:ext cx="2926080" cy="1188720"/>
          </a:xfrm>
          <a:prstGeom prst="rect">
            <a:avLst/>
          </a:prstGeom>
          <a:noFill/>
          <a:ln/>
        </p:spPr>
        <p:txBody>
          <a:bodyPr wrap="square" lIns="0" tIns="0" rIns="0" bIns="0" rtlCol="0" anchor="t"/>
          <a:lstStyle/>
          <a:p>
            <a:pPr indent="0" marL="0">
              <a:buNone/>
            </a:pPr>
            <a:r>
              <a:rPr lang="en-US" sz="1500" dirty="0">
                <a:solidFill>
                  <a:srgbClr val="1F2A1F"/>
                </a:solidFill>
                <a:latin typeface="Calibri" pitchFamily="34" charset="0"/>
                <a:ea typeface="Calibri" pitchFamily="34" charset="-122"/>
                <a:cs typeface="Calibri" pitchFamily="34" charset="-120"/>
              </a:rPr>
              <a:t>of the food we eat is imported, so prices follow the world market</a:t>
            </a:r>
            <a:endParaRPr lang="en-US" sz="1500" dirty="0"/>
          </a:p>
        </p:txBody>
      </p:sp>
      <p:sp>
        <p:nvSpPr>
          <p:cNvPr id="19" name="Text 14"/>
          <p:cNvSpPr txBox="1"/>
          <p:nvPr/>
        </p:nvSpPr>
        <p:spPr>
          <a:xfrm>
            <a:off x="548640" y="5715000"/>
            <a:ext cx="10972800" cy="365760"/>
          </a:xfrm>
          <a:prstGeom prst="rect">
            <a:avLst/>
          </a:prstGeom>
          <a:noFill/>
          <a:ln/>
        </p:spPr>
        <p:txBody>
          <a:bodyPr wrap="square" lIns="0" tIns="0" rIns="0" bIns="0" rtlCol="0" anchor="ctr"/>
          <a:lstStyle/>
          <a:p>
            <a:pPr indent="0" marL="0">
              <a:buNone/>
            </a:pPr>
            <a:r>
              <a:rPr lang="en-US" sz="1100" i="1" dirty="0">
                <a:solidFill>
                  <a:srgbClr val="5C6B5C"/>
                </a:solidFill>
                <a:latin typeface="Calibri" pitchFamily="34" charset="0"/>
                <a:ea typeface="Calibri" pitchFamily="34" charset="-122"/>
                <a:cs typeface="Calibri" pitchFamily="34" charset="-120"/>
              </a:rPr>
              <a:t>Sources: HSFB and the Barbados Childhood Obesity Prevention Coalition (2026); PAHO country profile (2019 and 2022); FAO.</a:t>
            </a:r>
            <a:endParaRPr lang="en-US" sz="1100" dirty="0"/>
          </a:p>
        </p:txBody>
      </p:sp>
      <p:sp>
        <p:nvSpPr>
          <p:cNvPr id="20" name="Text 15"/>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900" dirty="0">
                <a:solidFill>
                  <a:srgbClr val="9AA79A"/>
                </a:solidFill>
                <a:latin typeface="Calibri" pitchFamily="34" charset="0"/>
                <a:ea typeface="Calibri" pitchFamily="34" charset="-122"/>
                <a:cs typeface="Calibri" pitchFamily="34" charset="-120"/>
              </a:rPr>
              <a:t>Food First vs two Barbados supermarkets  |  Heart &amp; Stroke Foundation of Barbados  |  prices recorded August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822960"/>
          </a:xfrm>
          <a:prstGeom prst="rect">
            <a:avLst/>
          </a:prstGeom>
          <a:noFill/>
          <a:ln/>
        </p:spPr>
        <p:txBody>
          <a:bodyPr wrap="square" lIns="0" tIns="0" rIns="0" bIns="0" rtlCol="0" anchor="ctr"/>
          <a:lstStyle/>
          <a:p>
            <a:pPr indent="0" marL="0">
              <a:buNone/>
            </a:pPr>
            <a:r>
              <a:rPr lang="en-US" sz="3600" b="1" dirty="0">
                <a:solidFill>
                  <a:srgbClr val="2C5F2D"/>
                </a:solidFill>
                <a:latin typeface="Calibri" pitchFamily="34" charset="0"/>
                <a:ea typeface="Calibri" pitchFamily="34" charset="-122"/>
                <a:cs typeface="Calibri" pitchFamily="34" charset="-120"/>
              </a:rPr>
              <a:t>The big question</a:t>
            </a:r>
            <a:endParaRPr lang="en-US" sz="3600" dirty="0"/>
          </a:p>
        </p:txBody>
      </p:sp>
      <p:sp>
        <p:nvSpPr>
          <p:cNvPr id="3" name="Shape 1"/>
          <p:cNvSpPr/>
          <p:nvPr/>
        </p:nvSpPr>
        <p:spPr>
          <a:xfrm>
            <a:off x="548640" y="1463040"/>
            <a:ext cx="1005840" cy="1005840"/>
          </a:xfrm>
          <a:prstGeom prst="ellipse">
            <a:avLst/>
          </a:prstGeom>
          <a:solidFill>
            <a:srgbClr val="F2C14E"/>
          </a:solidFill>
          <a:ln w="12700">
            <a:solidFill>
              <a:srgbClr val="F2C14E"/>
            </a:solidFill>
            <a:prstDash val="solid"/>
          </a:ln>
        </p:spPr>
      </p:sp>
      <p:pic>
        <p:nvPicPr>
          <p:cNvPr id="4" name="Image 0" descr="preencoded.png">    </p:cNvPr>
          <p:cNvPicPr>
            <a:picLocks noChangeAspect="1"/>
          </p:cNvPicPr>
          <p:nvPr/>
        </p:nvPicPr>
        <p:blipFill>
          <a:blip r:embed="rId1"/>
          <a:stretch>
            <a:fillRect/>
          </a:stretch>
        </p:blipFill>
        <p:spPr>
          <a:xfrm>
            <a:off x="800100" y="1714500"/>
            <a:ext cx="502920" cy="502920"/>
          </a:xfrm>
          <a:prstGeom prst="rect">
            <a:avLst/>
          </a:prstGeom>
        </p:spPr>
      </p:pic>
      <p:sp>
        <p:nvSpPr>
          <p:cNvPr id="5" name="Text 2"/>
          <p:cNvSpPr txBox="1"/>
          <p:nvPr/>
        </p:nvSpPr>
        <p:spPr>
          <a:xfrm>
            <a:off x="1828800" y="1371600"/>
            <a:ext cx="9784080" cy="1280160"/>
          </a:xfrm>
          <a:prstGeom prst="rect">
            <a:avLst/>
          </a:prstGeom>
          <a:noFill/>
          <a:ln/>
        </p:spPr>
        <p:txBody>
          <a:bodyPr wrap="square" lIns="0" tIns="0" rIns="0" bIns="0" rtlCol="0" anchor="ctr"/>
          <a:lstStyle/>
          <a:p>
            <a:pPr indent="0" marL="0">
              <a:buNone/>
            </a:pPr>
            <a:r>
              <a:rPr lang="en-US" sz="2600" b="1" dirty="0">
                <a:solidFill>
                  <a:srgbClr val="1F2A1F"/>
                </a:solidFill>
                <a:latin typeface="Calibri" pitchFamily="34" charset="0"/>
                <a:ea typeface="Calibri" pitchFamily="34" charset="-122"/>
                <a:cs typeface="Calibri" pitchFamily="34" charset="-120"/>
              </a:rPr>
              <a:t>If a supplier brings whole foods straight from Europe to Barbados, is it actually cheaper for a family than the supermarket?</a:t>
            </a:r>
            <a:endParaRPr lang="en-US" sz="2600" dirty="0"/>
          </a:p>
        </p:txBody>
      </p:sp>
      <p:sp>
        <p:nvSpPr>
          <p:cNvPr id="6" name="Shape 3"/>
          <p:cNvSpPr/>
          <p:nvPr/>
        </p:nvSpPr>
        <p:spPr>
          <a:xfrm>
            <a:off x="548640" y="3017520"/>
            <a:ext cx="5394960" cy="1920240"/>
          </a:xfrm>
          <a:prstGeom prst="roundRect">
            <a:avLst>
              <a:gd name="adj" fmla="val 7143"/>
            </a:avLst>
          </a:prstGeom>
          <a:solidFill>
            <a:srgbClr val="EEF4E8"/>
          </a:solidFill>
          <a:ln w="12700">
            <a:solidFill>
              <a:srgbClr val="EEF4E8"/>
            </a:solidFill>
            <a:prstDash val="solid"/>
          </a:ln>
        </p:spPr>
      </p:sp>
      <p:sp>
        <p:nvSpPr>
          <p:cNvPr id="7" name="Text 4"/>
          <p:cNvSpPr txBox="1"/>
          <p:nvPr/>
        </p:nvSpPr>
        <p:spPr>
          <a:xfrm>
            <a:off x="822960" y="3200400"/>
            <a:ext cx="4846320" cy="1645920"/>
          </a:xfrm>
          <a:prstGeom prst="rect">
            <a:avLst/>
          </a:prstGeom>
          <a:noFill/>
          <a:ln/>
        </p:spPr>
        <p:txBody>
          <a:bodyPr wrap="square" lIns="0" tIns="0" rIns="0" bIns="0" rtlCol="0" anchor="t"/>
          <a:lstStyle/>
          <a:p>
            <a:pPr indent="0" marL="0">
              <a:buNone/>
            </a:pPr>
            <a:r>
              <a:rPr lang="en-US" sz="1800" b="1" dirty="0">
                <a:solidFill>
                  <a:srgbClr val="2C5F2D"/>
                </a:solidFill>
                <a:latin typeface="Calibri" pitchFamily="34" charset="0"/>
                <a:ea typeface="Calibri" pitchFamily="34" charset="-122"/>
                <a:cs typeface="Calibri" pitchFamily="34" charset="-120"/>
              </a:rPr>
              <a:t>Our bet (H₁)</a:t>
            </a:r>
            <a:endParaRPr lang="en-US" sz="1800" dirty="0"/>
          </a:p>
          <a:p>
            <a:pPr indent="0" marL="0">
              <a:buNone/>
            </a:pPr>
            <a:r>
              <a:rPr lang="en-US" sz="1500" dirty="0">
                <a:solidFill>
                  <a:srgbClr val="1F2A1F"/>
                </a:solidFill>
                <a:latin typeface="Calibri" pitchFamily="34" charset="0"/>
                <a:ea typeface="Calibri" pitchFamily="34" charset="-122"/>
                <a:cs typeface="Calibri" pitchFamily="34" charset="-120"/>
              </a:rPr>
              <a:t>Food First's prices are, on average, lower than the supermarkets', because of direct EU import and a shorter supply chain.</a:t>
            </a:r>
            <a:endParaRPr lang="en-US" sz="1800" dirty="0"/>
          </a:p>
        </p:txBody>
      </p:sp>
      <p:sp>
        <p:nvSpPr>
          <p:cNvPr id="8" name="Shape 5"/>
          <p:cNvSpPr/>
          <p:nvPr/>
        </p:nvSpPr>
        <p:spPr>
          <a:xfrm>
            <a:off x="6217920" y="3017520"/>
            <a:ext cx="5394960" cy="1920240"/>
          </a:xfrm>
          <a:prstGeom prst="roundRect">
            <a:avLst>
              <a:gd name="adj" fmla="val 7143"/>
            </a:avLst>
          </a:prstGeom>
          <a:solidFill>
            <a:srgbClr val="EEF4E8"/>
          </a:solidFill>
          <a:ln w="12700">
            <a:solidFill>
              <a:srgbClr val="EEF4E8"/>
            </a:solidFill>
            <a:prstDash val="solid"/>
          </a:ln>
        </p:spPr>
      </p:sp>
      <p:sp>
        <p:nvSpPr>
          <p:cNvPr id="9" name="Text 6"/>
          <p:cNvSpPr txBox="1"/>
          <p:nvPr/>
        </p:nvSpPr>
        <p:spPr>
          <a:xfrm>
            <a:off x="6492240" y="3200400"/>
            <a:ext cx="4846320" cy="1645920"/>
          </a:xfrm>
          <a:prstGeom prst="rect">
            <a:avLst/>
          </a:prstGeom>
          <a:noFill/>
          <a:ln/>
        </p:spPr>
        <p:txBody>
          <a:bodyPr wrap="square" lIns="0" tIns="0" rIns="0" bIns="0" rtlCol="0" anchor="t"/>
          <a:lstStyle/>
          <a:p>
            <a:pPr indent="0" marL="0">
              <a:buNone/>
            </a:pPr>
            <a:r>
              <a:rPr lang="en-US" sz="1800" b="1" dirty="0">
                <a:solidFill>
                  <a:srgbClr val="D7263D"/>
                </a:solidFill>
                <a:latin typeface="Calibri" pitchFamily="34" charset="0"/>
                <a:ea typeface="Calibri" pitchFamily="34" charset="-122"/>
                <a:cs typeface="Calibri" pitchFamily="34" charset="-120"/>
              </a:rPr>
              <a:t>The sceptic's view (H₀)</a:t>
            </a:r>
            <a:endParaRPr lang="en-US" sz="1800" dirty="0"/>
          </a:p>
          <a:p>
            <a:pPr indent="0" marL="0">
              <a:buNone/>
            </a:pPr>
            <a:r>
              <a:rPr lang="en-US" sz="1500" dirty="0">
                <a:solidFill>
                  <a:srgbClr val="1F2A1F"/>
                </a:solidFill>
                <a:latin typeface="Calibri" pitchFamily="34" charset="0"/>
                <a:ea typeface="Calibri" pitchFamily="34" charset="-122"/>
                <a:cs typeface="Calibri" pitchFamily="34" charset="-120"/>
              </a:rPr>
              <a:t>There is no consistent difference. Any saving is luck of the draw, item by item.</a:t>
            </a:r>
            <a:endParaRPr lang="en-US" sz="1800" dirty="0"/>
          </a:p>
        </p:txBody>
      </p:sp>
      <p:sp>
        <p:nvSpPr>
          <p:cNvPr id="10" name="Shape 7"/>
          <p:cNvSpPr/>
          <p:nvPr/>
        </p:nvSpPr>
        <p:spPr>
          <a:xfrm>
            <a:off x="548640" y="5257800"/>
            <a:ext cx="548640" cy="548640"/>
          </a:xfrm>
          <a:prstGeom prst="ellipse">
            <a:avLst/>
          </a:prstGeom>
          <a:solidFill>
            <a:srgbClr val="4A6FA5"/>
          </a:solidFill>
          <a:ln w="12700">
            <a:solidFill>
              <a:srgbClr val="4A6FA5"/>
            </a:solidFill>
            <a:prstDash val="solid"/>
          </a:ln>
        </p:spPr>
      </p:sp>
      <p:pic>
        <p:nvPicPr>
          <p:cNvPr id="11" name="Image 1" descr="preencoded.png">    </p:cNvPr>
          <p:cNvPicPr>
            <a:picLocks noChangeAspect="1"/>
          </p:cNvPicPr>
          <p:nvPr/>
        </p:nvPicPr>
        <p:blipFill>
          <a:blip r:embed="rId2"/>
          <a:stretch>
            <a:fillRect/>
          </a:stretch>
        </p:blipFill>
        <p:spPr>
          <a:xfrm>
            <a:off x="685800" y="5394960"/>
            <a:ext cx="274320" cy="274320"/>
          </a:xfrm>
          <a:prstGeom prst="rect">
            <a:avLst/>
          </a:prstGeom>
        </p:spPr>
      </p:pic>
      <p:sp>
        <p:nvSpPr>
          <p:cNvPr id="12" name="Text 8"/>
          <p:cNvSpPr txBox="1"/>
          <p:nvPr/>
        </p:nvSpPr>
        <p:spPr>
          <a:xfrm>
            <a:off x="1280160" y="5212080"/>
            <a:ext cx="10332720" cy="640080"/>
          </a:xfrm>
          <a:prstGeom prst="rect">
            <a:avLst/>
          </a:prstGeom>
          <a:noFill/>
          <a:ln/>
        </p:spPr>
        <p:txBody>
          <a:bodyPr wrap="square" lIns="0" tIns="0" rIns="0" bIns="0" rtlCol="0" anchor="ctr"/>
          <a:lstStyle/>
          <a:p>
            <a:pPr indent="0" marL="0">
              <a:buNone/>
            </a:pPr>
            <a:r>
              <a:rPr lang="en-US" sz="1300" i="1" dirty="0">
                <a:solidFill>
                  <a:srgbClr val="5C6B5C"/>
                </a:solidFill>
                <a:latin typeface="Calibri" pitchFamily="34" charset="0"/>
                <a:ea typeface="Calibri" pitchFamily="34" charset="-122"/>
                <a:cs typeface="Calibri" pitchFamily="34" charset="-120"/>
              </a:rPr>
              <a:t>Undercover rule: the two supermarkets agreed to help on condition they are not named. They are Supermarket A and Supermarket B throughout.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822960"/>
          </a:xfrm>
          <a:prstGeom prst="rect">
            <a:avLst/>
          </a:prstGeom>
          <a:noFill/>
          <a:ln/>
        </p:spPr>
        <p:txBody>
          <a:bodyPr wrap="square" lIns="0" tIns="0" rIns="0" bIns="0" rtlCol="0" anchor="ctr"/>
          <a:lstStyle/>
          <a:p>
            <a:pPr indent="0" marL="0">
              <a:buNone/>
            </a:pPr>
            <a:r>
              <a:rPr lang="en-US" sz="3600" b="1" dirty="0">
                <a:solidFill>
                  <a:srgbClr val="2C5F2D"/>
                </a:solidFill>
                <a:latin typeface="Calibri" pitchFamily="34" charset="0"/>
                <a:ea typeface="Calibri" pitchFamily="34" charset="-122"/>
                <a:cs typeface="Calibri" pitchFamily="34" charset="-120"/>
              </a:rPr>
              <a:t>How we did it</a:t>
            </a:r>
            <a:endParaRPr lang="en-US" sz="3600" dirty="0"/>
          </a:p>
        </p:txBody>
      </p:sp>
      <p:sp>
        <p:nvSpPr>
          <p:cNvPr id="3" name="Text 1"/>
          <p:cNvSpPr txBox="1"/>
          <p:nvPr/>
        </p:nvSpPr>
        <p:spPr>
          <a:xfrm>
            <a:off x="548640" y="1188720"/>
            <a:ext cx="11091672" cy="457200"/>
          </a:xfrm>
          <a:prstGeom prst="rect">
            <a:avLst/>
          </a:prstGeom>
          <a:noFill/>
          <a:ln/>
        </p:spPr>
        <p:txBody>
          <a:bodyPr wrap="square" lIns="0" tIns="0" rIns="0" bIns="0" rtlCol="0" anchor="ctr"/>
          <a:lstStyle/>
          <a:p>
            <a:pPr indent="0" marL="0">
              <a:buNone/>
            </a:pPr>
            <a:r>
              <a:rPr lang="en-US" sz="1600" dirty="0">
                <a:solidFill>
                  <a:srgbClr val="5C6B5C"/>
                </a:solidFill>
                <a:latin typeface="Calibri" pitchFamily="34" charset="0"/>
                <a:ea typeface="Calibri" pitchFamily="34" charset="-122"/>
                <a:cs typeface="Calibri" pitchFamily="34" charset="-120"/>
              </a:rPr>
              <a:t>Same product, same unit, same week: a like-for-like comparison</a:t>
            </a:r>
            <a:endParaRPr lang="en-US" sz="1600" dirty="0"/>
          </a:p>
        </p:txBody>
      </p:sp>
      <p:sp>
        <p:nvSpPr>
          <p:cNvPr id="4" name="Shape 2"/>
          <p:cNvSpPr/>
          <p:nvPr/>
        </p:nvSpPr>
        <p:spPr>
          <a:xfrm>
            <a:off x="548640" y="1828800"/>
            <a:ext cx="2651760" cy="2834640"/>
          </a:xfrm>
          <a:prstGeom prst="roundRect">
            <a:avLst>
              <a:gd name="adj" fmla="val 5172"/>
            </a:avLst>
          </a:prstGeom>
          <a:solidFill>
            <a:srgbClr val="EEF4E8"/>
          </a:solidFill>
          <a:ln w="12700">
            <a:solidFill>
              <a:srgbClr val="EEF4E8"/>
            </a:solidFill>
            <a:prstDash val="solid"/>
          </a:ln>
        </p:spPr>
      </p:sp>
      <p:sp>
        <p:nvSpPr>
          <p:cNvPr id="5" name="Shape 3"/>
          <p:cNvSpPr/>
          <p:nvPr/>
        </p:nvSpPr>
        <p:spPr>
          <a:xfrm>
            <a:off x="822960" y="2057400"/>
            <a:ext cx="731520" cy="731520"/>
          </a:xfrm>
          <a:prstGeom prst="ellipse">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1005840" y="2240280"/>
            <a:ext cx="365760" cy="365760"/>
          </a:xfrm>
          <a:prstGeom prst="rect">
            <a:avLst/>
          </a:prstGeom>
        </p:spPr>
      </p:pic>
      <p:sp>
        <p:nvSpPr>
          <p:cNvPr id="7" name="Text 4"/>
          <p:cNvSpPr txBox="1"/>
          <p:nvPr/>
        </p:nvSpPr>
        <p:spPr>
          <a:xfrm>
            <a:off x="822960" y="2880360"/>
            <a:ext cx="2194560" cy="365760"/>
          </a:xfrm>
          <a:prstGeom prst="rect">
            <a:avLst/>
          </a:prstGeom>
          <a:noFill/>
          <a:ln/>
        </p:spPr>
        <p:txBody>
          <a:bodyPr wrap="square" lIns="0" tIns="0" rIns="0" bIns="0" rtlCol="0" anchor="ctr"/>
          <a:lstStyle/>
          <a:p>
            <a:pPr indent="0" marL="0">
              <a:buNone/>
            </a:pPr>
            <a:r>
              <a:rPr lang="en-US" sz="1700" b="1" dirty="0">
                <a:solidFill>
                  <a:srgbClr val="2C5F2D"/>
                </a:solidFill>
                <a:latin typeface="Calibri" pitchFamily="34" charset="0"/>
                <a:ea typeface="Calibri" pitchFamily="34" charset="-122"/>
                <a:cs typeface="Calibri" pitchFamily="34" charset="-120"/>
              </a:rPr>
              <a:t>1. The list</a:t>
            </a:r>
            <a:endParaRPr lang="en-US" sz="1700" dirty="0"/>
          </a:p>
        </p:txBody>
      </p:sp>
      <p:sp>
        <p:nvSpPr>
          <p:cNvPr id="8" name="Text 5"/>
          <p:cNvSpPr txBox="1"/>
          <p:nvPr/>
        </p:nvSpPr>
        <p:spPr>
          <a:xfrm>
            <a:off x="822960" y="3291840"/>
            <a:ext cx="2194560" cy="1280160"/>
          </a:xfrm>
          <a:prstGeom prst="rect">
            <a:avLst/>
          </a:prstGeom>
          <a:noFill/>
          <a:ln/>
        </p:spPr>
        <p:txBody>
          <a:bodyPr wrap="square" lIns="0" tIns="0" rIns="0" bIns="0" rtlCol="0" anchor="t"/>
          <a:lstStyle/>
          <a:p>
            <a:pPr indent="0" marL="0">
              <a:buNone/>
            </a:pPr>
            <a:r>
              <a:rPr lang="en-US" sz="1300" dirty="0">
                <a:solidFill>
                  <a:srgbClr val="1F2A1F"/>
                </a:solidFill>
                <a:latin typeface="Calibri" pitchFamily="34" charset="0"/>
                <a:ea typeface="Calibri" pitchFamily="34" charset="-122"/>
                <a:cs typeface="Calibri" pitchFamily="34" charset="-120"/>
              </a:rPr>
              <a:t>Food First's own price list: 95 products, priced per kg, per litre or per unit.</a:t>
            </a:r>
            <a:endParaRPr lang="en-US" sz="1300" dirty="0"/>
          </a:p>
        </p:txBody>
      </p:sp>
      <p:sp>
        <p:nvSpPr>
          <p:cNvPr id="9" name="Shape 6"/>
          <p:cNvSpPr/>
          <p:nvPr/>
        </p:nvSpPr>
        <p:spPr>
          <a:xfrm>
            <a:off x="3383280" y="1828800"/>
            <a:ext cx="2651760" cy="2834640"/>
          </a:xfrm>
          <a:prstGeom prst="roundRect">
            <a:avLst>
              <a:gd name="adj" fmla="val 5172"/>
            </a:avLst>
          </a:prstGeom>
          <a:solidFill>
            <a:srgbClr val="EEF4E8"/>
          </a:solidFill>
          <a:ln w="12700">
            <a:solidFill>
              <a:srgbClr val="EEF4E8"/>
            </a:solidFill>
            <a:prstDash val="solid"/>
          </a:ln>
        </p:spPr>
      </p:sp>
      <p:sp>
        <p:nvSpPr>
          <p:cNvPr id="10" name="Shape 7"/>
          <p:cNvSpPr/>
          <p:nvPr/>
        </p:nvSpPr>
        <p:spPr>
          <a:xfrm>
            <a:off x="3657600" y="2057400"/>
            <a:ext cx="731520" cy="731520"/>
          </a:xfrm>
          <a:prstGeom prst="ellipse">
            <a:avLst/>
          </a:prstGeom>
          <a:solidFill>
            <a:srgbClr val="2C5F2D"/>
          </a:solidFill>
          <a:ln w="12700">
            <a:solidFill>
              <a:srgbClr val="2C5F2D"/>
            </a:solidFill>
            <a:prstDash val="solid"/>
          </a:ln>
        </p:spPr>
      </p:sp>
      <p:pic>
        <p:nvPicPr>
          <p:cNvPr id="11" name="Image 1" descr="preencoded.png">    </p:cNvPr>
          <p:cNvPicPr>
            <a:picLocks noChangeAspect="1"/>
          </p:cNvPicPr>
          <p:nvPr/>
        </p:nvPicPr>
        <p:blipFill>
          <a:blip r:embed="rId2"/>
          <a:stretch>
            <a:fillRect/>
          </a:stretch>
        </p:blipFill>
        <p:spPr>
          <a:xfrm>
            <a:off x="3840480" y="2240280"/>
            <a:ext cx="365760" cy="365760"/>
          </a:xfrm>
          <a:prstGeom prst="rect">
            <a:avLst/>
          </a:prstGeom>
        </p:spPr>
      </p:pic>
      <p:sp>
        <p:nvSpPr>
          <p:cNvPr id="12" name="Text 8"/>
          <p:cNvSpPr txBox="1"/>
          <p:nvPr/>
        </p:nvSpPr>
        <p:spPr>
          <a:xfrm>
            <a:off x="3657600" y="2880360"/>
            <a:ext cx="2194560" cy="365760"/>
          </a:xfrm>
          <a:prstGeom prst="rect">
            <a:avLst/>
          </a:prstGeom>
          <a:noFill/>
          <a:ln/>
        </p:spPr>
        <p:txBody>
          <a:bodyPr wrap="square" lIns="0" tIns="0" rIns="0" bIns="0" rtlCol="0" anchor="ctr"/>
          <a:lstStyle/>
          <a:p>
            <a:pPr indent="0" marL="0">
              <a:buNone/>
            </a:pPr>
            <a:r>
              <a:rPr lang="en-US" sz="1700" b="1" dirty="0">
                <a:solidFill>
                  <a:srgbClr val="2C5F2D"/>
                </a:solidFill>
                <a:latin typeface="Calibri" pitchFamily="34" charset="0"/>
                <a:ea typeface="Calibri" pitchFamily="34" charset="-122"/>
                <a:cs typeface="Calibri" pitchFamily="34" charset="-120"/>
              </a:rPr>
              <a:t>2. The shop</a:t>
            </a:r>
            <a:endParaRPr lang="en-US" sz="1700" dirty="0"/>
          </a:p>
        </p:txBody>
      </p:sp>
      <p:sp>
        <p:nvSpPr>
          <p:cNvPr id="13" name="Text 9"/>
          <p:cNvSpPr txBox="1"/>
          <p:nvPr/>
        </p:nvSpPr>
        <p:spPr>
          <a:xfrm>
            <a:off x="3657600" y="3291840"/>
            <a:ext cx="2194560" cy="1280160"/>
          </a:xfrm>
          <a:prstGeom prst="rect">
            <a:avLst/>
          </a:prstGeom>
          <a:noFill/>
          <a:ln/>
        </p:spPr>
        <p:txBody>
          <a:bodyPr wrap="square" lIns="0" tIns="0" rIns="0" bIns="0" rtlCol="0" anchor="t"/>
          <a:lstStyle/>
          <a:p>
            <a:pPr indent="0" marL="0">
              <a:buNone/>
            </a:pPr>
            <a:r>
              <a:rPr lang="en-US" sz="1300" dirty="0">
                <a:solidFill>
                  <a:srgbClr val="1F2A1F"/>
                </a:solidFill>
                <a:latin typeface="Calibri" pitchFamily="34" charset="0"/>
                <a:ea typeface="Calibri" pitchFamily="34" charset="-122"/>
                <a:cs typeface="Calibri" pitchFamily="34" charset="-120"/>
              </a:rPr>
              <a:t>In-store visits to Supermarket A and B in August 2026. Shelf price and pack size noted for every match.</a:t>
            </a:r>
            <a:endParaRPr lang="en-US" sz="1300" dirty="0"/>
          </a:p>
        </p:txBody>
      </p:sp>
      <p:sp>
        <p:nvSpPr>
          <p:cNvPr id="14" name="Shape 10"/>
          <p:cNvSpPr/>
          <p:nvPr/>
        </p:nvSpPr>
        <p:spPr>
          <a:xfrm>
            <a:off x="6217920" y="1828800"/>
            <a:ext cx="2651760" cy="2834640"/>
          </a:xfrm>
          <a:prstGeom prst="roundRect">
            <a:avLst>
              <a:gd name="adj" fmla="val 5172"/>
            </a:avLst>
          </a:prstGeom>
          <a:solidFill>
            <a:srgbClr val="EEF4E8"/>
          </a:solidFill>
          <a:ln w="12700">
            <a:solidFill>
              <a:srgbClr val="EEF4E8"/>
            </a:solidFill>
            <a:prstDash val="solid"/>
          </a:ln>
        </p:spPr>
      </p:sp>
      <p:sp>
        <p:nvSpPr>
          <p:cNvPr id="15" name="Shape 11"/>
          <p:cNvSpPr/>
          <p:nvPr/>
        </p:nvSpPr>
        <p:spPr>
          <a:xfrm>
            <a:off x="6492240" y="2057400"/>
            <a:ext cx="731520" cy="731520"/>
          </a:xfrm>
          <a:prstGeom prst="ellipse">
            <a:avLst/>
          </a:prstGeom>
          <a:solidFill>
            <a:srgbClr val="2C5F2D"/>
          </a:solidFill>
          <a:ln w="12700">
            <a:solidFill>
              <a:srgbClr val="2C5F2D"/>
            </a:solidFill>
            <a:prstDash val="solid"/>
          </a:ln>
        </p:spPr>
      </p:sp>
      <p:pic>
        <p:nvPicPr>
          <p:cNvPr id="16" name="Image 2" descr="preencoded.png">    </p:cNvPr>
          <p:cNvPicPr>
            <a:picLocks noChangeAspect="1"/>
          </p:cNvPicPr>
          <p:nvPr/>
        </p:nvPicPr>
        <p:blipFill>
          <a:blip r:embed="rId3"/>
          <a:stretch>
            <a:fillRect/>
          </a:stretch>
        </p:blipFill>
        <p:spPr>
          <a:xfrm>
            <a:off x="6675120" y="2240280"/>
            <a:ext cx="365760" cy="365760"/>
          </a:xfrm>
          <a:prstGeom prst="rect">
            <a:avLst/>
          </a:prstGeom>
        </p:spPr>
      </p:pic>
      <p:sp>
        <p:nvSpPr>
          <p:cNvPr id="17" name="Text 12"/>
          <p:cNvSpPr txBox="1"/>
          <p:nvPr/>
        </p:nvSpPr>
        <p:spPr>
          <a:xfrm>
            <a:off x="6492240" y="2880360"/>
            <a:ext cx="2194560" cy="365760"/>
          </a:xfrm>
          <a:prstGeom prst="rect">
            <a:avLst/>
          </a:prstGeom>
          <a:noFill/>
          <a:ln/>
        </p:spPr>
        <p:txBody>
          <a:bodyPr wrap="square" lIns="0" tIns="0" rIns="0" bIns="0" rtlCol="0" anchor="ctr"/>
          <a:lstStyle/>
          <a:p>
            <a:pPr indent="0" marL="0">
              <a:buNone/>
            </a:pPr>
            <a:r>
              <a:rPr lang="en-US" sz="1700" b="1" dirty="0">
                <a:solidFill>
                  <a:srgbClr val="2C5F2D"/>
                </a:solidFill>
                <a:latin typeface="Calibri" pitchFamily="34" charset="0"/>
                <a:ea typeface="Calibri" pitchFamily="34" charset="-122"/>
                <a:cs typeface="Calibri" pitchFamily="34" charset="-120"/>
              </a:rPr>
              <a:t>3. Standardise</a:t>
            </a:r>
            <a:endParaRPr lang="en-US" sz="1700" dirty="0"/>
          </a:p>
        </p:txBody>
      </p:sp>
      <p:sp>
        <p:nvSpPr>
          <p:cNvPr id="18" name="Text 13"/>
          <p:cNvSpPr txBox="1"/>
          <p:nvPr/>
        </p:nvSpPr>
        <p:spPr>
          <a:xfrm>
            <a:off x="6492240" y="3291840"/>
            <a:ext cx="2194560" cy="1280160"/>
          </a:xfrm>
          <a:prstGeom prst="rect">
            <a:avLst/>
          </a:prstGeom>
          <a:noFill/>
          <a:ln/>
        </p:spPr>
        <p:txBody>
          <a:bodyPr wrap="square" lIns="0" tIns="0" rIns="0" bIns="0" rtlCol="0" anchor="t"/>
          <a:lstStyle/>
          <a:p>
            <a:pPr indent="0" marL="0">
              <a:buNone/>
            </a:pPr>
            <a:r>
              <a:rPr lang="en-US" sz="1300" dirty="0">
                <a:solidFill>
                  <a:srgbClr val="1F2A1F"/>
                </a:solidFill>
                <a:latin typeface="Calibri" pitchFamily="34" charset="0"/>
                <a:ea typeface="Calibri" pitchFamily="34" charset="-122"/>
                <a:cs typeface="Calibri" pitchFamily="34" charset="-120"/>
              </a:rPr>
              <a:t>Every price converted to Food First's unit, so a 340 g pack becomes a per-kg price.</a:t>
            </a:r>
            <a:endParaRPr lang="en-US" sz="1300" dirty="0"/>
          </a:p>
        </p:txBody>
      </p:sp>
      <p:sp>
        <p:nvSpPr>
          <p:cNvPr id="19" name="Shape 14"/>
          <p:cNvSpPr/>
          <p:nvPr/>
        </p:nvSpPr>
        <p:spPr>
          <a:xfrm>
            <a:off x="9052560" y="1828800"/>
            <a:ext cx="2651760" cy="2834640"/>
          </a:xfrm>
          <a:prstGeom prst="roundRect">
            <a:avLst>
              <a:gd name="adj" fmla="val 5172"/>
            </a:avLst>
          </a:prstGeom>
          <a:solidFill>
            <a:srgbClr val="EEF4E8"/>
          </a:solidFill>
          <a:ln w="12700">
            <a:solidFill>
              <a:srgbClr val="EEF4E8"/>
            </a:solidFill>
            <a:prstDash val="solid"/>
          </a:ln>
        </p:spPr>
      </p:sp>
      <p:sp>
        <p:nvSpPr>
          <p:cNvPr id="20" name="Shape 15"/>
          <p:cNvSpPr/>
          <p:nvPr/>
        </p:nvSpPr>
        <p:spPr>
          <a:xfrm>
            <a:off x="9326880" y="2057400"/>
            <a:ext cx="731520" cy="731520"/>
          </a:xfrm>
          <a:prstGeom prst="ellipse">
            <a:avLst/>
          </a:prstGeom>
          <a:solidFill>
            <a:srgbClr val="2C5F2D"/>
          </a:solidFill>
          <a:ln w="12700">
            <a:solidFill>
              <a:srgbClr val="2C5F2D"/>
            </a:solidFill>
            <a:prstDash val="solid"/>
          </a:ln>
        </p:spPr>
      </p:sp>
      <p:pic>
        <p:nvPicPr>
          <p:cNvPr id="21" name="Image 3" descr="preencoded.png">    </p:cNvPr>
          <p:cNvPicPr>
            <a:picLocks noChangeAspect="1"/>
          </p:cNvPicPr>
          <p:nvPr/>
        </p:nvPicPr>
        <p:blipFill>
          <a:blip r:embed="rId4"/>
          <a:stretch>
            <a:fillRect/>
          </a:stretch>
        </p:blipFill>
        <p:spPr>
          <a:xfrm>
            <a:off x="9509760" y="2240280"/>
            <a:ext cx="365760" cy="365760"/>
          </a:xfrm>
          <a:prstGeom prst="rect">
            <a:avLst/>
          </a:prstGeom>
        </p:spPr>
      </p:pic>
      <p:sp>
        <p:nvSpPr>
          <p:cNvPr id="22" name="Text 16"/>
          <p:cNvSpPr txBox="1"/>
          <p:nvPr/>
        </p:nvSpPr>
        <p:spPr>
          <a:xfrm>
            <a:off x="9326880" y="2880360"/>
            <a:ext cx="2194560" cy="365760"/>
          </a:xfrm>
          <a:prstGeom prst="rect">
            <a:avLst/>
          </a:prstGeom>
          <a:noFill/>
          <a:ln/>
        </p:spPr>
        <p:txBody>
          <a:bodyPr wrap="square" lIns="0" tIns="0" rIns="0" bIns="0" rtlCol="0" anchor="ctr"/>
          <a:lstStyle/>
          <a:p>
            <a:pPr indent="0" marL="0">
              <a:buNone/>
            </a:pPr>
            <a:r>
              <a:rPr lang="en-US" sz="1700" b="1" dirty="0">
                <a:solidFill>
                  <a:srgbClr val="2C5F2D"/>
                </a:solidFill>
                <a:latin typeface="Calibri" pitchFamily="34" charset="0"/>
                <a:ea typeface="Calibri" pitchFamily="34" charset="-122"/>
                <a:cs typeface="Calibri" pitchFamily="34" charset="-120"/>
              </a:rPr>
              <a:t>4. Compare</a:t>
            </a:r>
            <a:endParaRPr lang="en-US" sz="1700" dirty="0"/>
          </a:p>
        </p:txBody>
      </p:sp>
      <p:sp>
        <p:nvSpPr>
          <p:cNvPr id="23" name="Text 17"/>
          <p:cNvSpPr txBox="1"/>
          <p:nvPr/>
        </p:nvSpPr>
        <p:spPr>
          <a:xfrm>
            <a:off x="9326880" y="3291840"/>
            <a:ext cx="2194560" cy="1280160"/>
          </a:xfrm>
          <a:prstGeom prst="rect">
            <a:avLst/>
          </a:prstGeom>
          <a:noFill/>
          <a:ln/>
        </p:spPr>
        <p:txBody>
          <a:bodyPr wrap="square" lIns="0" tIns="0" rIns="0" bIns="0" rtlCol="0" anchor="t"/>
          <a:lstStyle/>
          <a:p>
            <a:pPr indent="0" marL="0">
              <a:buNone/>
            </a:pPr>
            <a:r>
              <a:rPr lang="en-US" sz="1300" dirty="0">
                <a:solidFill>
                  <a:srgbClr val="1F2A1F"/>
                </a:solidFill>
                <a:latin typeface="Calibri" pitchFamily="34" charset="0"/>
                <a:ea typeface="Calibri" pitchFamily="34" charset="-122"/>
                <a:cs typeface="Calibri" pitchFamily="34" charset="-120"/>
              </a:rPr>
              <a:t>36 items matched at all three stores on an identical basis. The rest were excluded.</a:t>
            </a:r>
            <a:endParaRPr lang="en-US" sz="1300" dirty="0"/>
          </a:p>
        </p:txBody>
      </p:sp>
      <p:sp>
        <p:nvSpPr>
          <p:cNvPr id="24" name="Shape 18"/>
          <p:cNvSpPr/>
          <p:nvPr/>
        </p:nvSpPr>
        <p:spPr>
          <a:xfrm>
            <a:off x="548640" y="4892040"/>
            <a:ext cx="11064240" cy="1188720"/>
          </a:xfrm>
          <a:prstGeom prst="roundRect">
            <a:avLst>
              <a:gd name="adj" fmla="val 11538"/>
            </a:avLst>
          </a:prstGeom>
          <a:solidFill>
            <a:srgbClr val="2C5F2D"/>
          </a:solidFill>
          <a:ln w="12700">
            <a:solidFill>
              <a:srgbClr val="2C5F2D"/>
            </a:solidFill>
            <a:prstDash val="solid"/>
          </a:ln>
        </p:spPr>
      </p:sp>
      <p:sp>
        <p:nvSpPr>
          <p:cNvPr id="25" name="Text 19"/>
          <p:cNvSpPr txBox="1"/>
          <p:nvPr/>
        </p:nvSpPr>
        <p:spPr>
          <a:xfrm>
            <a:off x="822960" y="4983480"/>
            <a:ext cx="10515600" cy="10058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 difference = (Food First price − Supermarket price) ÷ Supermarket price</a:t>
            </a:r>
            <a:endParaRPr lang="en-US" sz="1700" dirty="0"/>
          </a:p>
          <a:p>
            <a:pPr indent="0" marL="0">
              <a:buNone/>
            </a:pPr>
            <a:r>
              <a:rPr lang="en-US" sz="1300" dirty="0">
                <a:solidFill>
                  <a:srgbClr val="DCE8D4"/>
                </a:solidFill>
                <a:latin typeface="Calibri" pitchFamily="34" charset="0"/>
                <a:ea typeface="Calibri" pitchFamily="34" charset="-122"/>
                <a:cs typeface="Calibri" pitchFamily="34" charset="-120"/>
              </a:rPr>
              <a:t>Negative = Food First cheaper.  Positive = Food First dearer.  We report the median (the typical item) as well as the mean.</a:t>
            </a:r>
            <a:endParaRPr lang="en-US" sz="1700" dirty="0"/>
          </a:p>
        </p:txBody>
      </p:sp>
      <p:sp>
        <p:nvSpPr>
          <p:cNvPr id="26" name="Text 20"/>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900" dirty="0">
                <a:solidFill>
                  <a:srgbClr val="9AA79A"/>
                </a:solidFill>
                <a:latin typeface="Calibri" pitchFamily="34" charset="0"/>
                <a:ea typeface="Calibri" pitchFamily="34" charset="-122"/>
                <a:cs typeface="Calibri" pitchFamily="34" charset="-120"/>
              </a:rPr>
              <a:t>Food First vs two Barbados supermarkets  |  Heart &amp; Stroke Foundation of Barbados  |  prices recorded August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822960"/>
          </a:xfrm>
          <a:prstGeom prst="rect">
            <a:avLst/>
          </a:prstGeom>
          <a:noFill/>
          <a:ln/>
        </p:spPr>
        <p:txBody>
          <a:bodyPr wrap="square" lIns="0" tIns="0" rIns="0" bIns="0" rtlCol="0" anchor="ctr"/>
          <a:lstStyle/>
          <a:p>
            <a:pPr indent="0" marL="0">
              <a:buNone/>
            </a:pPr>
            <a:r>
              <a:rPr lang="en-US" sz="3600" b="1" dirty="0">
                <a:solidFill>
                  <a:srgbClr val="2C5F2D"/>
                </a:solidFill>
                <a:latin typeface="Calibri" pitchFamily="34" charset="0"/>
                <a:ea typeface="Calibri" pitchFamily="34" charset="-122"/>
                <a:cs typeface="Calibri" pitchFamily="34" charset="-120"/>
              </a:rPr>
              <a:t>The scoreboard</a:t>
            </a:r>
            <a:endParaRPr lang="en-US" sz="3600" dirty="0"/>
          </a:p>
        </p:txBody>
      </p:sp>
      <p:sp>
        <p:nvSpPr>
          <p:cNvPr id="3" name="Text 1"/>
          <p:cNvSpPr txBox="1"/>
          <p:nvPr/>
        </p:nvSpPr>
        <p:spPr>
          <a:xfrm>
            <a:off x="548640" y="1188720"/>
            <a:ext cx="11091672" cy="457200"/>
          </a:xfrm>
          <a:prstGeom prst="rect">
            <a:avLst/>
          </a:prstGeom>
          <a:noFill/>
          <a:ln/>
        </p:spPr>
        <p:txBody>
          <a:bodyPr wrap="square" lIns="0" tIns="0" rIns="0" bIns="0" rtlCol="0" anchor="ctr"/>
          <a:lstStyle/>
          <a:p>
            <a:pPr indent="0" marL="0">
              <a:buNone/>
            </a:pPr>
            <a:r>
              <a:rPr lang="en-US" sz="1600" dirty="0">
                <a:solidFill>
                  <a:srgbClr val="5C6B5C"/>
                </a:solidFill>
                <a:latin typeface="Calibri" pitchFamily="34" charset="0"/>
                <a:ea typeface="Calibri" pitchFamily="34" charset="-122"/>
                <a:cs typeface="Calibri" pitchFamily="34" charset="-120"/>
              </a:rPr>
              <a:t>For each of the 36 items: which store had the lowest standardised price?</a:t>
            </a:r>
            <a:endParaRPr lang="en-US" sz="1600" dirty="0"/>
          </a:p>
        </p:txBody>
      </p:sp>
      <p:graphicFrame>
        <p:nvGraphicFramePr>
          <p:cNvPr id="4" name="Chart 0" descr=""/>
          <p:cNvGraphicFramePr/>
          <p:nvPr/>
        </p:nvGraphicFramePr>
        <p:xfrm>
          <a:off x="548640" y="173736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737360"/>
            <a:ext cx="3931920" cy="4206240"/>
          </a:xfrm>
          <a:prstGeom prst="roundRect">
            <a:avLst>
              <a:gd name="adj" fmla="val 3488"/>
            </a:avLst>
          </a:prstGeom>
          <a:solidFill>
            <a:srgbClr val="EEF4E8"/>
          </a:solidFill>
          <a:ln w="12700">
            <a:solidFill>
              <a:srgbClr val="EEF4E8"/>
            </a:solidFill>
            <a:prstDash val="solid"/>
          </a:ln>
        </p:spPr>
      </p:sp>
      <p:sp>
        <p:nvSpPr>
          <p:cNvPr id="6" name="Shape 3"/>
          <p:cNvSpPr/>
          <p:nvPr/>
        </p:nvSpPr>
        <p:spPr>
          <a:xfrm>
            <a:off x="8001000" y="2011680"/>
            <a:ext cx="822960" cy="822960"/>
          </a:xfrm>
          <a:prstGeom prst="ellipse">
            <a:avLst/>
          </a:prstGeom>
          <a:solidFill>
            <a:srgbClr val="F2C14E"/>
          </a:solidFill>
          <a:ln w="12700">
            <a:solidFill>
              <a:srgbClr val="F2C14E"/>
            </a:solidFill>
            <a:prstDash val="solid"/>
          </a:ln>
        </p:spPr>
      </p:sp>
      <p:pic>
        <p:nvPicPr>
          <p:cNvPr id="7" name="Image 0" descr="preencoded.png">    </p:cNvPr>
          <p:cNvPicPr>
            <a:picLocks noChangeAspect="1"/>
          </p:cNvPicPr>
          <p:nvPr/>
        </p:nvPicPr>
        <p:blipFill>
          <a:blip r:embed="rId2"/>
          <a:stretch>
            <a:fillRect/>
          </a:stretch>
        </p:blipFill>
        <p:spPr>
          <a:xfrm>
            <a:off x="8206740" y="2217420"/>
            <a:ext cx="411480" cy="411480"/>
          </a:xfrm>
          <a:prstGeom prst="rect">
            <a:avLst/>
          </a:prstGeom>
        </p:spPr>
      </p:pic>
      <p:sp>
        <p:nvSpPr>
          <p:cNvPr id="8" name="Text 4"/>
          <p:cNvSpPr txBox="1"/>
          <p:nvPr/>
        </p:nvSpPr>
        <p:spPr>
          <a:xfrm>
            <a:off x="8001000" y="2926080"/>
            <a:ext cx="3383280" cy="1097280"/>
          </a:xfrm>
          <a:prstGeom prst="rect">
            <a:avLst/>
          </a:prstGeom>
          <a:noFill/>
          <a:ln/>
        </p:spPr>
        <p:txBody>
          <a:bodyPr wrap="square" lIns="0" tIns="0" rIns="0" bIns="0" rtlCol="0" anchor="ctr"/>
          <a:lstStyle/>
          <a:p>
            <a:pPr indent="0" marL="0">
              <a:buNone/>
            </a:pPr>
            <a:r>
              <a:rPr lang="en-US" sz="6600" b="1" dirty="0">
                <a:solidFill>
                  <a:srgbClr val="2C5F2D"/>
                </a:solidFill>
                <a:latin typeface="Calibri" pitchFamily="34" charset="0"/>
                <a:ea typeface="Calibri" pitchFamily="34" charset="-122"/>
                <a:cs typeface="Calibri" pitchFamily="34" charset="-120"/>
              </a:rPr>
              <a:t>75%</a:t>
            </a:r>
            <a:endParaRPr lang="en-US" sz="6600" dirty="0"/>
          </a:p>
        </p:txBody>
      </p:sp>
      <p:sp>
        <p:nvSpPr>
          <p:cNvPr id="9" name="Text 5"/>
          <p:cNvSpPr txBox="1"/>
          <p:nvPr/>
        </p:nvSpPr>
        <p:spPr>
          <a:xfrm>
            <a:off x="8001000" y="4069080"/>
            <a:ext cx="3291840" cy="1645920"/>
          </a:xfrm>
          <a:prstGeom prst="rect">
            <a:avLst/>
          </a:prstGeom>
          <a:noFill/>
          <a:ln/>
        </p:spPr>
        <p:txBody>
          <a:bodyPr wrap="square" lIns="0" tIns="0" rIns="0" bIns="0" rtlCol="0" anchor="t"/>
          <a:lstStyle/>
          <a:p>
            <a:pPr indent="0" marL="0">
              <a:buNone/>
            </a:pPr>
            <a:r>
              <a:rPr lang="en-US" sz="1500" dirty="0">
                <a:solidFill>
                  <a:srgbClr val="1F2A1F"/>
                </a:solidFill>
                <a:latin typeface="Calibri" pitchFamily="34" charset="0"/>
                <a:ea typeface="Calibri" pitchFamily="34" charset="-122"/>
                <a:cs typeface="Calibri" pitchFamily="34" charset="-120"/>
              </a:rPr>
              <a:t>Food First was the cheapest of the three stores on 27 of 36 items. Supermarket A won 8, Supermarket B won 1.</a:t>
            </a:r>
            <a:endParaRPr lang="en-US" sz="1500" dirty="0"/>
          </a:p>
        </p:txBody>
      </p:sp>
      <p:sp>
        <p:nvSpPr>
          <p:cNvPr id="10" name="Text 6"/>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900" dirty="0">
                <a:solidFill>
                  <a:srgbClr val="9AA79A"/>
                </a:solidFill>
                <a:latin typeface="Calibri" pitchFamily="34" charset="0"/>
                <a:ea typeface="Calibri" pitchFamily="34" charset="-122"/>
                <a:cs typeface="Calibri" pitchFamily="34" charset="-120"/>
              </a:rPr>
              <a:t>Food First vs two Barbados supermarkets  |  Heart &amp; Stroke Foundation of Barbados  |  prices recorded August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822960"/>
          </a:xfrm>
          <a:prstGeom prst="rect">
            <a:avLst/>
          </a:prstGeom>
          <a:noFill/>
          <a:ln/>
        </p:spPr>
        <p:txBody>
          <a:bodyPr wrap="square" lIns="0" tIns="0" rIns="0" bIns="0" rtlCol="0" anchor="ctr"/>
          <a:lstStyle/>
          <a:p>
            <a:pPr indent="0" marL="0">
              <a:buNone/>
            </a:pPr>
            <a:r>
              <a:rPr lang="en-US" sz="3600" b="1" dirty="0">
                <a:solidFill>
                  <a:srgbClr val="2C5F2D"/>
                </a:solidFill>
                <a:latin typeface="Calibri" pitchFamily="34" charset="0"/>
                <a:ea typeface="Calibri" pitchFamily="34" charset="-122"/>
                <a:cs typeface="Calibri" pitchFamily="34" charset="-120"/>
              </a:rPr>
              <a:t>How much cheaper?</a:t>
            </a:r>
            <a:endParaRPr lang="en-US" sz="3600" dirty="0"/>
          </a:p>
        </p:txBody>
      </p:sp>
      <p:sp>
        <p:nvSpPr>
          <p:cNvPr id="3" name="Text 1"/>
          <p:cNvSpPr txBox="1"/>
          <p:nvPr/>
        </p:nvSpPr>
        <p:spPr>
          <a:xfrm>
            <a:off x="548640" y="1188720"/>
            <a:ext cx="11091672" cy="457200"/>
          </a:xfrm>
          <a:prstGeom prst="rect">
            <a:avLst/>
          </a:prstGeom>
          <a:noFill/>
          <a:ln/>
        </p:spPr>
        <p:txBody>
          <a:bodyPr wrap="square" lIns="0" tIns="0" rIns="0" bIns="0" rtlCol="0" anchor="ctr"/>
          <a:lstStyle/>
          <a:p>
            <a:pPr indent="0" marL="0">
              <a:buNone/>
            </a:pPr>
            <a:r>
              <a:rPr lang="en-US" sz="1600" dirty="0">
                <a:solidFill>
                  <a:srgbClr val="5C6B5C"/>
                </a:solidFill>
                <a:latin typeface="Calibri" pitchFamily="34" charset="0"/>
                <a:ea typeface="Calibri" pitchFamily="34" charset="-122"/>
                <a:cs typeface="Calibri" pitchFamily="34" charset="-120"/>
              </a:rPr>
              <a:t>The typical item (median) costs about a quarter less at Food First</a:t>
            </a:r>
            <a:endParaRPr lang="en-US" sz="1600" dirty="0"/>
          </a:p>
        </p:txBody>
      </p:sp>
      <p:sp>
        <p:nvSpPr>
          <p:cNvPr id="4" name="Shape 2"/>
          <p:cNvSpPr/>
          <p:nvPr/>
        </p:nvSpPr>
        <p:spPr>
          <a:xfrm>
            <a:off x="548640" y="1828800"/>
            <a:ext cx="5394960" cy="2834640"/>
          </a:xfrm>
          <a:prstGeom prst="roundRect">
            <a:avLst>
              <a:gd name="adj" fmla="val 4839"/>
            </a:avLst>
          </a:prstGeom>
          <a:solidFill>
            <a:srgbClr val="EEF4E8"/>
          </a:solidFill>
          <a:ln w="12700">
            <a:solidFill>
              <a:srgbClr val="EEF4E8"/>
            </a:solidFill>
            <a:prstDash val="solid"/>
          </a:ln>
        </p:spPr>
      </p:sp>
      <p:sp>
        <p:nvSpPr>
          <p:cNvPr id="5" name="Text 3"/>
          <p:cNvSpPr txBox="1"/>
          <p:nvPr/>
        </p:nvSpPr>
        <p:spPr>
          <a:xfrm>
            <a:off x="914400" y="2011680"/>
            <a:ext cx="4754880" cy="1371600"/>
          </a:xfrm>
          <a:prstGeom prst="rect">
            <a:avLst/>
          </a:prstGeom>
          <a:noFill/>
          <a:ln/>
        </p:spPr>
        <p:txBody>
          <a:bodyPr wrap="square" lIns="0" tIns="0" rIns="0" bIns="0" rtlCol="0" anchor="ctr"/>
          <a:lstStyle/>
          <a:p>
            <a:pPr indent="0" marL="0">
              <a:buNone/>
            </a:pPr>
            <a:r>
              <a:rPr lang="en-US" sz="7200" b="1" dirty="0">
                <a:solidFill>
                  <a:srgbClr val="2C5F2D"/>
                </a:solidFill>
                <a:latin typeface="Calibri" pitchFamily="34" charset="0"/>
                <a:ea typeface="Calibri" pitchFamily="34" charset="-122"/>
                <a:cs typeface="Calibri" pitchFamily="34" charset="-120"/>
              </a:rPr>
              <a:t>−24.4%</a:t>
            </a:r>
            <a:endParaRPr lang="en-US" sz="7200" dirty="0"/>
          </a:p>
        </p:txBody>
      </p:sp>
      <p:sp>
        <p:nvSpPr>
          <p:cNvPr id="6" name="Text 4"/>
          <p:cNvSpPr txBox="1"/>
          <p:nvPr/>
        </p:nvSpPr>
        <p:spPr>
          <a:xfrm>
            <a:off x="914400" y="3383280"/>
            <a:ext cx="4754880" cy="457200"/>
          </a:xfrm>
          <a:prstGeom prst="rect">
            <a:avLst/>
          </a:prstGeom>
          <a:noFill/>
          <a:ln/>
        </p:spPr>
        <p:txBody>
          <a:bodyPr wrap="square" lIns="0" tIns="0" rIns="0" bIns="0" rtlCol="0" anchor="ctr"/>
          <a:lstStyle/>
          <a:p>
            <a:pPr indent="0" marL="0">
              <a:buNone/>
            </a:pPr>
            <a:r>
              <a:rPr lang="en-US" sz="2000" b="1" dirty="0">
                <a:solidFill>
                  <a:srgbClr val="EB6834"/>
                </a:solidFill>
                <a:latin typeface="Calibri" pitchFamily="34" charset="0"/>
                <a:ea typeface="Calibri" pitchFamily="34" charset="-122"/>
                <a:cs typeface="Calibri" pitchFamily="34" charset="-120"/>
              </a:rPr>
              <a:t>median vs Supermarket A</a:t>
            </a:r>
            <a:endParaRPr lang="en-US" sz="2000" dirty="0"/>
          </a:p>
        </p:txBody>
      </p:sp>
      <p:sp>
        <p:nvSpPr>
          <p:cNvPr id="7" name="Text 5"/>
          <p:cNvSpPr txBox="1"/>
          <p:nvPr/>
        </p:nvSpPr>
        <p:spPr>
          <a:xfrm>
            <a:off x="914400" y="3886200"/>
            <a:ext cx="4754880" cy="548640"/>
          </a:xfrm>
          <a:prstGeom prst="rect">
            <a:avLst/>
          </a:prstGeom>
          <a:noFill/>
          <a:ln/>
        </p:spPr>
        <p:txBody>
          <a:bodyPr wrap="square" lIns="0" tIns="0" rIns="0" bIns="0" rtlCol="0" anchor="ctr"/>
          <a:lstStyle/>
          <a:p>
            <a:pPr indent="0" marL="0">
              <a:buNone/>
            </a:pPr>
            <a:r>
              <a:rPr lang="en-US" sz="1400" dirty="0">
                <a:solidFill>
                  <a:srgbClr val="5C6B5C"/>
                </a:solidFill>
                <a:latin typeface="Calibri" pitchFamily="34" charset="0"/>
                <a:ea typeface="Calibri" pitchFamily="34" charset="-122"/>
                <a:cs typeface="Calibri" pitchFamily="34" charset="-120"/>
              </a:rPr>
              <a:t>mean −16.4%  |  cheaper on 27 of 36 items</a:t>
            </a:r>
            <a:endParaRPr lang="en-US" sz="1400" dirty="0"/>
          </a:p>
        </p:txBody>
      </p:sp>
      <p:sp>
        <p:nvSpPr>
          <p:cNvPr id="8" name="Shape 6"/>
          <p:cNvSpPr/>
          <p:nvPr/>
        </p:nvSpPr>
        <p:spPr>
          <a:xfrm>
            <a:off x="6217920" y="1828800"/>
            <a:ext cx="5394960" cy="2834640"/>
          </a:xfrm>
          <a:prstGeom prst="roundRect">
            <a:avLst>
              <a:gd name="adj" fmla="val 4839"/>
            </a:avLst>
          </a:prstGeom>
          <a:solidFill>
            <a:srgbClr val="EEF4E8"/>
          </a:solidFill>
          <a:ln w="12700">
            <a:solidFill>
              <a:srgbClr val="EEF4E8"/>
            </a:solidFill>
            <a:prstDash val="solid"/>
          </a:ln>
        </p:spPr>
      </p:sp>
      <p:sp>
        <p:nvSpPr>
          <p:cNvPr id="9" name="Text 7"/>
          <p:cNvSpPr txBox="1"/>
          <p:nvPr/>
        </p:nvSpPr>
        <p:spPr>
          <a:xfrm>
            <a:off x="6583680" y="2011680"/>
            <a:ext cx="4754880" cy="1371600"/>
          </a:xfrm>
          <a:prstGeom prst="rect">
            <a:avLst/>
          </a:prstGeom>
          <a:noFill/>
          <a:ln/>
        </p:spPr>
        <p:txBody>
          <a:bodyPr wrap="square" lIns="0" tIns="0" rIns="0" bIns="0" rtlCol="0" anchor="ctr"/>
          <a:lstStyle/>
          <a:p>
            <a:pPr indent="0" marL="0">
              <a:buNone/>
            </a:pPr>
            <a:r>
              <a:rPr lang="en-US" sz="7200" b="1" dirty="0">
                <a:solidFill>
                  <a:srgbClr val="2C5F2D"/>
                </a:solidFill>
                <a:latin typeface="Calibri" pitchFamily="34" charset="0"/>
                <a:ea typeface="Calibri" pitchFamily="34" charset="-122"/>
                <a:cs typeface="Calibri" pitchFamily="34" charset="-120"/>
              </a:rPr>
              <a:t>−23.5%</a:t>
            </a:r>
            <a:endParaRPr lang="en-US" sz="7200" dirty="0"/>
          </a:p>
        </p:txBody>
      </p:sp>
      <p:sp>
        <p:nvSpPr>
          <p:cNvPr id="10" name="Text 8"/>
          <p:cNvSpPr txBox="1"/>
          <p:nvPr/>
        </p:nvSpPr>
        <p:spPr>
          <a:xfrm>
            <a:off x="6583680" y="3383280"/>
            <a:ext cx="4754880" cy="457200"/>
          </a:xfrm>
          <a:prstGeom prst="rect">
            <a:avLst/>
          </a:prstGeom>
          <a:noFill/>
          <a:ln/>
        </p:spPr>
        <p:txBody>
          <a:bodyPr wrap="square" lIns="0" tIns="0" rIns="0" bIns="0" rtlCol="0" anchor="ctr"/>
          <a:lstStyle/>
          <a:p>
            <a:pPr indent="0" marL="0">
              <a:buNone/>
            </a:pPr>
            <a:r>
              <a:rPr lang="en-US" sz="2000" b="1" dirty="0">
                <a:solidFill>
                  <a:srgbClr val="4A6FA5"/>
                </a:solidFill>
                <a:latin typeface="Calibri" pitchFamily="34" charset="0"/>
                <a:ea typeface="Calibri" pitchFamily="34" charset="-122"/>
                <a:cs typeface="Calibri" pitchFamily="34" charset="-120"/>
              </a:rPr>
              <a:t>median vs Supermarket B</a:t>
            </a:r>
            <a:endParaRPr lang="en-US" sz="2000" dirty="0"/>
          </a:p>
        </p:txBody>
      </p:sp>
      <p:sp>
        <p:nvSpPr>
          <p:cNvPr id="11" name="Text 9"/>
          <p:cNvSpPr txBox="1"/>
          <p:nvPr/>
        </p:nvSpPr>
        <p:spPr>
          <a:xfrm>
            <a:off x="6583680" y="3886200"/>
            <a:ext cx="4754880" cy="548640"/>
          </a:xfrm>
          <a:prstGeom prst="rect">
            <a:avLst/>
          </a:prstGeom>
          <a:noFill/>
          <a:ln/>
        </p:spPr>
        <p:txBody>
          <a:bodyPr wrap="square" lIns="0" tIns="0" rIns="0" bIns="0" rtlCol="0" anchor="ctr"/>
          <a:lstStyle/>
          <a:p>
            <a:pPr indent="0" marL="0">
              <a:buNone/>
            </a:pPr>
            <a:r>
              <a:rPr lang="en-US" sz="1400" dirty="0">
                <a:solidFill>
                  <a:srgbClr val="5C6B5C"/>
                </a:solidFill>
                <a:latin typeface="Calibri" pitchFamily="34" charset="0"/>
                <a:ea typeface="Calibri" pitchFamily="34" charset="-122"/>
                <a:cs typeface="Calibri" pitchFamily="34" charset="-120"/>
              </a:rPr>
              <a:t>mean −22.7%  |  cheaper on 30 of 36 items</a:t>
            </a:r>
            <a:endParaRPr lang="en-US" sz="1400" dirty="0"/>
          </a:p>
        </p:txBody>
      </p:sp>
      <p:sp>
        <p:nvSpPr>
          <p:cNvPr id="12" name="Shape 10"/>
          <p:cNvSpPr/>
          <p:nvPr/>
        </p:nvSpPr>
        <p:spPr>
          <a:xfrm>
            <a:off x="548640" y="4983480"/>
            <a:ext cx="731520" cy="731520"/>
          </a:xfrm>
          <a:prstGeom prst="ellipse">
            <a:avLst/>
          </a:prstGeom>
          <a:solidFill>
            <a:srgbClr val="F2C14E"/>
          </a:solidFill>
          <a:ln w="12700">
            <a:solidFill>
              <a:srgbClr val="F2C14E"/>
            </a:solidFill>
            <a:prstDash val="solid"/>
          </a:ln>
        </p:spPr>
      </p:sp>
      <p:pic>
        <p:nvPicPr>
          <p:cNvPr id="13" name="Image 0" descr="preencoded.png">    </p:cNvPr>
          <p:cNvPicPr>
            <a:picLocks noChangeAspect="1"/>
          </p:cNvPicPr>
          <p:nvPr/>
        </p:nvPicPr>
        <p:blipFill>
          <a:blip r:embed="rId1"/>
          <a:stretch>
            <a:fillRect/>
          </a:stretch>
        </p:blipFill>
        <p:spPr>
          <a:xfrm>
            <a:off x="731520" y="5166360"/>
            <a:ext cx="365760" cy="365760"/>
          </a:xfrm>
          <a:prstGeom prst="rect">
            <a:avLst/>
          </a:prstGeom>
        </p:spPr>
      </p:pic>
      <p:sp>
        <p:nvSpPr>
          <p:cNvPr id="14" name="Text 11"/>
          <p:cNvSpPr txBox="1"/>
          <p:nvPr/>
        </p:nvSpPr>
        <p:spPr>
          <a:xfrm>
            <a:off x="1463040" y="4892040"/>
            <a:ext cx="10149840" cy="914400"/>
          </a:xfrm>
          <a:prstGeom prst="rect">
            <a:avLst/>
          </a:prstGeom>
          <a:noFill/>
          <a:ln/>
        </p:spPr>
        <p:txBody>
          <a:bodyPr wrap="square" lIns="0" tIns="0" rIns="0" bIns="0" rtlCol="0" anchor="ctr"/>
          <a:lstStyle/>
          <a:p>
            <a:pPr indent="0" marL="0">
              <a:buNone/>
            </a:pPr>
            <a:r>
              <a:rPr lang="en-US" sz="1400" dirty="0">
                <a:solidFill>
                  <a:srgbClr val="1F2A1F"/>
                </a:solidFill>
                <a:latin typeface="Calibri" pitchFamily="34" charset="0"/>
                <a:ea typeface="Calibri" pitchFamily="34" charset="-122"/>
                <a:cs typeface="Calibri" pitchFamily="34" charset="-120"/>
              </a:rPr>
              <a:t>Why median and not mean? A handful of items, led by mangoes at +124%, drag the average toward zero. The median ignores the outliers and tells you what a typical item does.</a:t>
            </a:r>
            <a:endParaRPr lang="en-US" sz="1400" dirty="0"/>
          </a:p>
        </p:txBody>
      </p:sp>
      <p:sp>
        <p:nvSpPr>
          <p:cNvPr id="15" name="Text 12"/>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900" dirty="0">
                <a:solidFill>
                  <a:srgbClr val="9AA79A"/>
                </a:solidFill>
                <a:latin typeface="Calibri" pitchFamily="34" charset="0"/>
                <a:ea typeface="Calibri" pitchFamily="34" charset="-122"/>
                <a:cs typeface="Calibri" pitchFamily="34" charset="-120"/>
              </a:rPr>
              <a:t>Food First vs two Barbados supermarkets  |  Heart &amp; Stroke Foundation of Barbados  |  prices recorded August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822960"/>
          </a:xfrm>
          <a:prstGeom prst="rect">
            <a:avLst/>
          </a:prstGeom>
          <a:noFill/>
          <a:ln/>
        </p:spPr>
        <p:txBody>
          <a:bodyPr wrap="square" lIns="0" tIns="0" rIns="0" bIns="0" rtlCol="0" anchor="ctr"/>
          <a:lstStyle/>
          <a:p>
            <a:pPr indent="0" marL="0">
              <a:buNone/>
            </a:pPr>
            <a:r>
              <a:rPr lang="en-US" sz="3600" b="1" dirty="0">
                <a:solidFill>
                  <a:srgbClr val="2C5F2D"/>
                </a:solidFill>
                <a:latin typeface="Calibri" pitchFamily="34" charset="0"/>
                <a:ea typeface="Calibri" pitchFamily="34" charset="-122"/>
                <a:cs typeface="Calibri" pitchFamily="34" charset="-120"/>
              </a:rPr>
              <a:t>Round by round: the categories</a:t>
            </a:r>
            <a:endParaRPr lang="en-US" sz="3600" dirty="0"/>
          </a:p>
        </p:txBody>
      </p:sp>
      <p:sp>
        <p:nvSpPr>
          <p:cNvPr id="3" name="Text 1"/>
          <p:cNvSpPr txBox="1"/>
          <p:nvPr/>
        </p:nvSpPr>
        <p:spPr>
          <a:xfrm>
            <a:off x="548640" y="1188720"/>
            <a:ext cx="11091672" cy="457200"/>
          </a:xfrm>
          <a:prstGeom prst="rect">
            <a:avLst/>
          </a:prstGeom>
          <a:noFill/>
          <a:ln/>
        </p:spPr>
        <p:txBody>
          <a:bodyPr wrap="square" lIns="0" tIns="0" rIns="0" bIns="0" rtlCol="0" anchor="ctr"/>
          <a:lstStyle/>
          <a:p>
            <a:pPr indent="0" marL="0">
              <a:buNone/>
            </a:pPr>
            <a:r>
              <a:rPr lang="en-US" sz="1600" dirty="0">
                <a:solidFill>
                  <a:srgbClr val="5C6B5C"/>
                </a:solidFill>
                <a:latin typeface="Calibri" pitchFamily="34" charset="0"/>
                <a:ea typeface="Calibri" pitchFamily="34" charset="-122"/>
                <a:cs typeface="Calibri" pitchFamily="34" charset="-120"/>
              </a:rPr>
              <a:t>Median price difference, Food First relative to each supermarket (negative = Food First cheaper)</a:t>
            </a:r>
            <a:endParaRPr lang="en-US" sz="1600" dirty="0"/>
          </a:p>
        </p:txBody>
      </p:sp>
      <p:graphicFrame>
        <p:nvGraphicFramePr>
          <p:cNvPr id="4" name="Chart 0" descr=""/>
          <p:cNvGraphicFramePr/>
          <p:nvPr/>
        </p:nvGraphicFramePr>
        <p:xfrm>
          <a:off x="548640" y="1737360"/>
          <a:ext cx="7315200" cy="42976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138160" y="1828800"/>
            <a:ext cx="3474720" cy="1234440"/>
          </a:xfrm>
          <a:prstGeom prst="roundRect">
            <a:avLst>
              <a:gd name="adj" fmla="val 11111"/>
            </a:avLst>
          </a:prstGeom>
          <a:solidFill>
            <a:srgbClr val="EEF4E8"/>
          </a:solidFill>
          <a:ln w="12700">
            <a:solidFill>
              <a:srgbClr val="EEF4E8"/>
            </a:solidFill>
            <a:prstDash val="solid"/>
          </a:ln>
        </p:spPr>
      </p:sp>
      <p:sp>
        <p:nvSpPr>
          <p:cNvPr id="6" name="Shape 3"/>
          <p:cNvSpPr/>
          <p:nvPr/>
        </p:nvSpPr>
        <p:spPr>
          <a:xfrm>
            <a:off x="8321040" y="2103120"/>
            <a:ext cx="685800" cy="685800"/>
          </a:xfrm>
          <a:prstGeom prst="ellipse">
            <a:avLst/>
          </a:prstGeom>
          <a:solidFill>
            <a:srgbClr val="2C5F2D"/>
          </a:solidFill>
          <a:ln w="12700">
            <a:solidFill>
              <a:srgbClr val="2C5F2D"/>
            </a:solidFill>
            <a:prstDash val="solid"/>
          </a:ln>
        </p:spPr>
      </p:sp>
      <p:pic>
        <p:nvPicPr>
          <p:cNvPr id="7" name="Image 0" descr="preencoded.png">    </p:cNvPr>
          <p:cNvPicPr>
            <a:picLocks noChangeAspect="1"/>
          </p:cNvPicPr>
          <p:nvPr/>
        </p:nvPicPr>
        <p:blipFill>
          <a:blip r:embed="rId2"/>
          <a:stretch>
            <a:fillRect/>
          </a:stretch>
        </p:blipFill>
        <p:spPr>
          <a:xfrm>
            <a:off x="8492490" y="2274570"/>
            <a:ext cx="342900" cy="342900"/>
          </a:xfrm>
          <a:prstGeom prst="rect">
            <a:avLst/>
          </a:prstGeom>
        </p:spPr>
      </p:pic>
      <p:sp>
        <p:nvSpPr>
          <p:cNvPr id="8" name="Text 4"/>
          <p:cNvSpPr txBox="1"/>
          <p:nvPr/>
        </p:nvSpPr>
        <p:spPr>
          <a:xfrm>
            <a:off x="9144000" y="2011680"/>
            <a:ext cx="2377440" cy="365760"/>
          </a:xfrm>
          <a:prstGeom prst="rect">
            <a:avLst/>
          </a:prstGeom>
          <a:noFill/>
          <a:ln/>
        </p:spPr>
        <p:txBody>
          <a:bodyPr wrap="square" lIns="0" tIns="0" rIns="0" bIns="0" rtlCol="0" anchor="ctr"/>
          <a:lstStyle/>
          <a:p>
            <a:pPr indent="0" marL="0">
              <a:buNone/>
            </a:pPr>
            <a:r>
              <a:rPr lang="en-US" sz="1600" b="1" dirty="0">
                <a:solidFill>
                  <a:srgbClr val="1F2A1F"/>
                </a:solidFill>
                <a:latin typeface="Calibri" pitchFamily="34" charset="0"/>
                <a:ea typeface="Calibri" pitchFamily="34" charset="-122"/>
                <a:cs typeface="Calibri" pitchFamily="34" charset="-120"/>
              </a:rPr>
              <a:t>Vegetables</a:t>
            </a:r>
            <a:endParaRPr lang="en-US" sz="1600" dirty="0"/>
          </a:p>
        </p:txBody>
      </p:sp>
      <p:sp>
        <p:nvSpPr>
          <p:cNvPr id="9" name="Text 5"/>
          <p:cNvSpPr txBox="1"/>
          <p:nvPr/>
        </p:nvSpPr>
        <p:spPr>
          <a:xfrm>
            <a:off x="9144000" y="2395728"/>
            <a:ext cx="2377440" cy="594360"/>
          </a:xfrm>
          <a:prstGeom prst="rect">
            <a:avLst/>
          </a:prstGeom>
          <a:noFill/>
          <a:ln/>
        </p:spPr>
        <p:txBody>
          <a:bodyPr wrap="square" lIns="0" tIns="0" rIns="0" bIns="0" rtlCol="0" anchor="t"/>
          <a:lstStyle/>
          <a:p>
            <a:pPr indent="0" marL="0">
              <a:buNone/>
            </a:pPr>
            <a:r>
              <a:rPr lang="en-US" sz="1200" dirty="0">
                <a:solidFill>
                  <a:srgbClr val="5C6B5C"/>
                </a:solidFill>
                <a:latin typeface="Calibri" pitchFamily="34" charset="0"/>
                <a:ea typeface="Calibri" pitchFamily="34" charset="-122"/>
                <a:cs typeface="Calibri" pitchFamily="34" charset="-120"/>
              </a:rPr>
              <a:t>11 of 12 cheaper at Food First</a:t>
            </a:r>
            <a:endParaRPr lang="en-US" sz="1200" dirty="0"/>
          </a:p>
        </p:txBody>
      </p:sp>
      <p:sp>
        <p:nvSpPr>
          <p:cNvPr id="10" name="Shape 6"/>
          <p:cNvSpPr/>
          <p:nvPr/>
        </p:nvSpPr>
        <p:spPr>
          <a:xfrm>
            <a:off x="8138160" y="3246120"/>
            <a:ext cx="3474720" cy="1234440"/>
          </a:xfrm>
          <a:prstGeom prst="roundRect">
            <a:avLst>
              <a:gd name="adj" fmla="val 11111"/>
            </a:avLst>
          </a:prstGeom>
          <a:solidFill>
            <a:srgbClr val="EEF4E8"/>
          </a:solidFill>
          <a:ln w="12700">
            <a:solidFill>
              <a:srgbClr val="EEF4E8"/>
            </a:solidFill>
            <a:prstDash val="solid"/>
          </a:ln>
        </p:spPr>
      </p:sp>
      <p:sp>
        <p:nvSpPr>
          <p:cNvPr id="11" name="Shape 7"/>
          <p:cNvSpPr/>
          <p:nvPr/>
        </p:nvSpPr>
        <p:spPr>
          <a:xfrm>
            <a:off x="8321040" y="3520440"/>
            <a:ext cx="685800" cy="685800"/>
          </a:xfrm>
          <a:prstGeom prst="ellipse">
            <a:avLst/>
          </a:prstGeom>
          <a:solidFill>
            <a:srgbClr val="2C5F2D"/>
          </a:solidFill>
          <a:ln w="12700">
            <a:solidFill>
              <a:srgbClr val="2C5F2D"/>
            </a:solidFill>
            <a:prstDash val="solid"/>
          </a:ln>
        </p:spPr>
      </p:sp>
      <p:pic>
        <p:nvPicPr>
          <p:cNvPr id="12" name="Image 1" descr="preencoded.png">    </p:cNvPr>
          <p:cNvPicPr>
            <a:picLocks noChangeAspect="1"/>
          </p:cNvPicPr>
          <p:nvPr/>
        </p:nvPicPr>
        <p:blipFill>
          <a:blip r:embed="rId3"/>
          <a:stretch>
            <a:fillRect/>
          </a:stretch>
        </p:blipFill>
        <p:spPr>
          <a:xfrm>
            <a:off x="8492490" y="3691890"/>
            <a:ext cx="342900" cy="342900"/>
          </a:xfrm>
          <a:prstGeom prst="rect">
            <a:avLst/>
          </a:prstGeom>
        </p:spPr>
      </p:pic>
      <p:sp>
        <p:nvSpPr>
          <p:cNvPr id="13" name="Text 8"/>
          <p:cNvSpPr txBox="1"/>
          <p:nvPr/>
        </p:nvSpPr>
        <p:spPr>
          <a:xfrm>
            <a:off x="9144000" y="3429000"/>
            <a:ext cx="2377440" cy="365760"/>
          </a:xfrm>
          <a:prstGeom prst="rect">
            <a:avLst/>
          </a:prstGeom>
          <a:noFill/>
          <a:ln/>
        </p:spPr>
        <p:txBody>
          <a:bodyPr wrap="square" lIns="0" tIns="0" rIns="0" bIns="0" rtlCol="0" anchor="ctr"/>
          <a:lstStyle/>
          <a:p>
            <a:pPr indent="0" marL="0">
              <a:buNone/>
            </a:pPr>
            <a:r>
              <a:rPr lang="en-US" sz="1600" b="1" dirty="0">
                <a:solidFill>
                  <a:srgbClr val="1F2A1F"/>
                </a:solidFill>
                <a:latin typeface="Calibri" pitchFamily="34" charset="0"/>
                <a:ea typeface="Calibri" pitchFamily="34" charset="-122"/>
                <a:cs typeface="Calibri" pitchFamily="34" charset="-120"/>
              </a:rPr>
              <a:t>Grocery</a:t>
            </a:r>
            <a:endParaRPr lang="en-US" sz="1600" dirty="0"/>
          </a:p>
        </p:txBody>
      </p:sp>
      <p:sp>
        <p:nvSpPr>
          <p:cNvPr id="14" name="Text 9"/>
          <p:cNvSpPr txBox="1"/>
          <p:nvPr/>
        </p:nvSpPr>
        <p:spPr>
          <a:xfrm>
            <a:off x="9144000" y="3813048"/>
            <a:ext cx="2377440" cy="594360"/>
          </a:xfrm>
          <a:prstGeom prst="rect">
            <a:avLst/>
          </a:prstGeom>
          <a:noFill/>
          <a:ln/>
        </p:spPr>
        <p:txBody>
          <a:bodyPr wrap="square" lIns="0" tIns="0" rIns="0" bIns="0" rtlCol="0" anchor="t"/>
          <a:lstStyle/>
          <a:p>
            <a:pPr indent="0" marL="0">
              <a:buNone/>
            </a:pPr>
            <a:r>
              <a:rPr lang="en-US" sz="1200" dirty="0">
                <a:solidFill>
                  <a:srgbClr val="5C6B5C"/>
                </a:solidFill>
                <a:latin typeface="Calibri" pitchFamily="34" charset="0"/>
                <a:ea typeface="Calibri" pitchFamily="34" charset="-122"/>
                <a:cs typeface="Calibri" pitchFamily="34" charset="-120"/>
              </a:rPr>
              <a:t>5 of 6 cheaper at Food First</a:t>
            </a:r>
            <a:endParaRPr lang="en-US" sz="1200" dirty="0"/>
          </a:p>
        </p:txBody>
      </p:sp>
      <p:sp>
        <p:nvSpPr>
          <p:cNvPr id="15" name="Shape 10"/>
          <p:cNvSpPr/>
          <p:nvPr/>
        </p:nvSpPr>
        <p:spPr>
          <a:xfrm>
            <a:off x="8138160" y="4663440"/>
            <a:ext cx="3474720" cy="1234440"/>
          </a:xfrm>
          <a:prstGeom prst="roundRect">
            <a:avLst>
              <a:gd name="adj" fmla="val 11111"/>
            </a:avLst>
          </a:prstGeom>
          <a:solidFill>
            <a:srgbClr val="EEF4E8"/>
          </a:solidFill>
          <a:ln w="12700">
            <a:solidFill>
              <a:srgbClr val="EEF4E8"/>
            </a:solidFill>
            <a:prstDash val="solid"/>
          </a:ln>
        </p:spPr>
      </p:sp>
      <p:sp>
        <p:nvSpPr>
          <p:cNvPr id="16" name="Shape 11"/>
          <p:cNvSpPr/>
          <p:nvPr/>
        </p:nvSpPr>
        <p:spPr>
          <a:xfrm>
            <a:off x="8321040" y="4937760"/>
            <a:ext cx="685800" cy="685800"/>
          </a:xfrm>
          <a:prstGeom prst="ellipse">
            <a:avLst/>
          </a:prstGeom>
          <a:solidFill>
            <a:srgbClr val="D7263D"/>
          </a:solidFill>
          <a:ln w="12700">
            <a:solidFill>
              <a:srgbClr val="D7263D"/>
            </a:solidFill>
            <a:prstDash val="solid"/>
          </a:ln>
        </p:spPr>
      </p:sp>
      <p:pic>
        <p:nvPicPr>
          <p:cNvPr id="17" name="Image 2" descr="preencoded.png">    </p:cNvPr>
          <p:cNvPicPr>
            <a:picLocks noChangeAspect="1"/>
          </p:cNvPicPr>
          <p:nvPr/>
        </p:nvPicPr>
        <p:blipFill>
          <a:blip r:embed="rId4"/>
          <a:stretch>
            <a:fillRect/>
          </a:stretch>
        </p:blipFill>
        <p:spPr>
          <a:xfrm>
            <a:off x="8492490" y="5109210"/>
            <a:ext cx="342900" cy="342900"/>
          </a:xfrm>
          <a:prstGeom prst="rect">
            <a:avLst/>
          </a:prstGeom>
        </p:spPr>
      </p:pic>
      <p:sp>
        <p:nvSpPr>
          <p:cNvPr id="18" name="Text 12"/>
          <p:cNvSpPr txBox="1"/>
          <p:nvPr/>
        </p:nvSpPr>
        <p:spPr>
          <a:xfrm>
            <a:off x="9144000" y="4846320"/>
            <a:ext cx="2377440" cy="365760"/>
          </a:xfrm>
          <a:prstGeom prst="rect">
            <a:avLst/>
          </a:prstGeom>
          <a:noFill/>
          <a:ln/>
        </p:spPr>
        <p:txBody>
          <a:bodyPr wrap="square" lIns="0" tIns="0" rIns="0" bIns="0" rtlCol="0" anchor="ctr"/>
          <a:lstStyle/>
          <a:p>
            <a:pPr indent="0" marL="0">
              <a:buNone/>
            </a:pPr>
            <a:r>
              <a:rPr lang="en-US" sz="1600" b="1" dirty="0">
                <a:solidFill>
                  <a:srgbClr val="1F2A1F"/>
                </a:solidFill>
                <a:latin typeface="Calibri" pitchFamily="34" charset="0"/>
                <a:ea typeface="Calibri" pitchFamily="34" charset="-122"/>
                <a:cs typeface="Calibri" pitchFamily="34" charset="-120"/>
              </a:rPr>
              <a:t>Fruits</a:t>
            </a:r>
            <a:endParaRPr lang="en-US" sz="1600" dirty="0"/>
          </a:p>
        </p:txBody>
      </p:sp>
      <p:sp>
        <p:nvSpPr>
          <p:cNvPr id="19" name="Text 13"/>
          <p:cNvSpPr txBox="1"/>
          <p:nvPr/>
        </p:nvSpPr>
        <p:spPr>
          <a:xfrm>
            <a:off x="9144000" y="5230368"/>
            <a:ext cx="2377440" cy="594360"/>
          </a:xfrm>
          <a:prstGeom prst="rect">
            <a:avLst/>
          </a:prstGeom>
          <a:noFill/>
          <a:ln/>
        </p:spPr>
        <p:txBody>
          <a:bodyPr wrap="square" lIns="0" tIns="0" rIns="0" bIns="0" rtlCol="0" anchor="t"/>
          <a:lstStyle/>
          <a:p>
            <a:pPr indent="0" marL="0">
              <a:buNone/>
            </a:pPr>
            <a:r>
              <a:rPr lang="en-US" sz="1200" dirty="0">
                <a:solidFill>
                  <a:srgbClr val="5C6B5C"/>
                </a:solidFill>
                <a:latin typeface="Calibri" pitchFamily="34" charset="0"/>
                <a:ea typeface="Calibri" pitchFamily="34" charset="-122"/>
                <a:cs typeface="Calibri" pitchFamily="34" charset="-120"/>
              </a:rPr>
              <a:t>11 of 18 cheaper; the mixed bag</a:t>
            </a:r>
            <a:endParaRPr lang="en-US" sz="1200" dirty="0"/>
          </a:p>
        </p:txBody>
      </p:sp>
      <p:sp>
        <p:nvSpPr>
          <p:cNvPr id="20" name="Text 14"/>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900" dirty="0">
                <a:solidFill>
                  <a:srgbClr val="9AA79A"/>
                </a:solidFill>
                <a:latin typeface="Calibri" pitchFamily="34" charset="0"/>
                <a:ea typeface="Calibri" pitchFamily="34" charset="-122"/>
                <a:cs typeface="Calibri" pitchFamily="34" charset="-120"/>
              </a:rPr>
              <a:t>Food First vs two Barbados supermarkets  |  Heart &amp; Stroke Foundation of Barbados  |  prices recorded August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822960"/>
          </a:xfrm>
          <a:prstGeom prst="rect">
            <a:avLst/>
          </a:prstGeom>
          <a:noFill/>
          <a:ln/>
        </p:spPr>
        <p:txBody>
          <a:bodyPr wrap="square" lIns="0" tIns="0" rIns="0" bIns="0" rtlCol="0" anchor="ctr"/>
          <a:lstStyle/>
          <a:p>
            <a:pPr indent="0" marL="0">
              <a:buNone/>
            </a:pPr>
            <a:r>
              <a:rPr lang="en-US" sz="3600" b="1" dirty="0">
                <a:solidFill>
                  <a:srgbClr val="2C5F2D"/>
                </a:solidFill>
                <a:latin typeface="Calibri" pitchFamily="34" charset="0"/>
                <a:ea typeface="Calibri" pitchFamily="34" charset="-122"/>
                <a:cs typeface="Calibri" pitchFamily="34" charset="-120"/>
              </a:rPr>
              <a:t>Vegetables: the heavyweight champions</a:t>
            </a:r>
            <a:endParaRPr lang="en-US" sz="3600" dirty="0"/>
          </a:p>
        </p:txBody>
      </p:sp>
      <p:sp>
        <p:nvSpPr>
          <p:cNvPr id="3" name="Text 1"/>
          <p:cNvSpPr txBox="1"/>
          <p:nvPr/>
        </p:nvSpPr>
        <p:spPr>
          <a:xfrm>
            <a:off x="548640" y="1188720"/>
            <a:ext cx="11091672" cy="457200"/>
          </a:xfrm>
          <a:prstGeom prst="rect">
            <a:avLst/>
          </a:prstGeom>
          <a:noFill/>
          <a:ln/>
        </p:spPr>
        <p:txBody>
          <a:bodyPr wrap="square" lIns="0" tIns="0" rIns="0" bIns="0" rtlCol="0" anchor="ctr"/>
          <a:lstStyle/>
          <a:p>
            <a:pPr indent="0" marL="0">
              <a:buNone/>
            </a:pPr>
            <a:r>
              <a:rPr lang="en-US" sz="1600" dirty="0">
                <a:solidFill>
                  <a:srgbClr val="5C6B5C"/>
                </a:solidFill>
                <a:latin typeface="Calibri" pitchFamily="34" charset="0"/>
                <a:ea typeface="Calibri" pitchFamily="34" charset="-122"/>
                <a:cs typeface="Calibri" pitchFamily="34" charset="-120"/>
              </a:rPr>
              <a:t>Food First was cheaper than both supermarkets on 11 of 12 vegetables</a:t>
            </a:r>
            <a:endParaRPr lang="en-US" sz="1600" dirty="0"/>
          </a:p>
        </p:txBody>
      </p:sp>
      <p:graphicFrame>
        <p:nvGraphicFramePr>
          <p:cNvPr id="4" name="Chart 0" descr=""/>
          <p:cNvGraphicFramePr/>
          <p:nvPr/>
        </p:nvGraphicFramePr>
        <p:xfrm>
          <a:off x="548640" y="1691640"/>
          <a:ext cx="7589520" cy="4389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503920" y="1737360"/>
            <a:ext cx="3108960" cy="960120"/>
          </a:xfrm>
          <a:prstGeom prst="roundRect">
            <a:avLst>
              <a:gd name="adj" fmla="val 14286"/>
            </a:avLst>
          </a:prstGeom>
          <a:solidFill>
            <a:srgbClr val="EEF4E8"/>
          </a:solidFill>
          <a:ln w="12700">
            <a:solidFill>
              <a:srgbClr val="EEF4E8"/>
            </a:solidFill>
            <a:prstDash val="solid"/>
          </a:ln>
        </p:spPr>
      </p:sp>
      <p:sp>
        <p:nvSpPr>
          <p:cNvPr id="6" name="Text 3"/>
          <p:cNvSpPr txBox="1"/>
          <p:nvPr/>
        </p:nvSpPr>
        <p:spPr>
          <a:xfrm>
            <a:off x="8732520" y="1847088"/>
            <a:ext cx="2743200" cy="320040"/>
          </a:xfrm>
          <a:prstGeom prst="rect">
            <a:avLst/>
          </a:prstGeom>
          <a:noFill/>
          <a:ln/>
        </p:spPr>
        <p:txBody>
          <a:bodyPr wrap="square" lIns="0" tIns="0" rIns="0" bIns="0" rtlCol="0" anchor="ctr"/>
          <a:lstStyle/>
          <a:p>
            <a:pPr indent="0" marL="0">
              <a:buNone/>
            </a:pPr>
            <a:r>
              <a:rPr lang="en-US" sz="1500" b="1" dirty="0">
                <a:solidFill>
                  <a:srgbClr val="2C5F2D"/>
                </a:solidFill>
                <a:latin typeface="Calibri" pitchFamily="34" charset="0"/>
                <a:ea typeface="Calibri" pitchFamily="34" charset="-122"/>
                <a:cs typeface="Calibri" pitchFamily="34" charset="-120"/>
              </a:rPr>
              <a:t>Zucchini</a:t>
            </a:r>
            <a:endParaRPr lang="en-US" sz="1500" dirty="0"/>
          </a:p>
        </p:txBody>
      </p:sp>
      <p:sp>
        <p:nvSpPr>
          <p:cNvPr id="7" name="Text 4"/>
          <p:cNvSpPr txBox="1"/>
          <p:nvPr/>
        </p:nvSpPr>
        <p:spPr>
          <a:xfrm>
            <a:off x="8732520" y="2194560"/>
            <a:ext cx="2743200" cy="365760"/>
          </a:xfrm>
          <a:prstGeom prst="rect">
            <a:avLst/>
          </a:prstGeom>
          <a:noFill/>
          <a:ln/>
        </p:spPr>
        <p:txBody>
          <a:bodyPr wrap="square" lIns="0" tIns="0" rIns="0" bIns="0" rtlCol="0" anchor="ctr"/>
          <a:lstStyle/>
          <a:p>
            <a:pPr indent="0" marL="0">
              <a:buNone/>
            </a:pPr>
            <a:r>
              <a:rPr lang="en-US" sz="1300" dirty="0">
                <a:solidFill>
                  <a:srgbClr val="1F2A1F"/>
                </a:solidFill>
                <a:latin typeface="Calibri" pitchFamily="34" charset="0"/>
                <a:ea typeface="Calibri" pitchFamily="34" charset="-122"/>
                <a:cs typeface="Calibri" pitchFamily="34" charset="-120"/>
              </a:rPr>
              <a:t>−55% vs A   −66% vs B</a:t>
            </a:r>
            <a:endParaRPr lang="en-US" sz="1300" dirty="0"/>
          </a:p>
        </p:txBody>
      </p:sp>
      <p:sp>
        <p:nvSpPr>
          <p:cNvPr id="8" name="Shape 5"/>
          <p:cNvSpPr/>
          <p:nvPr/>
        </p:nvSpPr>
        <p:spPr>
          <a:xfrm>
            <a:off x="8503920" y="2834640"/>
            <a:ext cx="3108960" cy="960120"/>
          </a:xfrm>
          <a:prstGeom prst="roundRect">
            <a:avLst>
              <a:gd name="adj" fmla="val 14286"/>
            </a:avLst>
          </a:prstGeom>
          <a:solidFill>
            <a:srgbClr val="EEF4E8"/>
          </a:solidFill>
          <a:ln w="12700">
            <a:solidFill>
              <a:srgbClr val="EEF4E8"/>
            </a:solidFill>
            <a:prstDash val="solid"/>
          </a:ln>
        </p:spPr>
      </p:sp>
      <p:sp>
        <p:nvSpPr>
          <p:cNvPr id="9" name="Text 6"/>
          <p:cNvSpPr txBox="1"/>
          <p:nvPr/>
        </p:nvSpPr>
        <p:spPr>
          <a:xfrm>
            <a:off x="8732520" y="2944368"/>
            <a:ext cx="2743200" cy="320040"/>
          </a:xfrm>
          <a:prstGeom prst="rect">
            <a:avLst/>
          </a:prstGeom>
          <a:noFill/>
          <a:ln/>
        </p:spPr>
        <p:txBody>
          <a:bodyPr wrap="square" lIns="0" tIns="0" rIns="0" bIns="0" rtlCol="0" anchor="ctr"/>
          <a:lstStyle/>
          <a:p>
            <a:pPr indent="0" marL="0">
              <a:buNone/>
            </a:pPr>
            <a:r>
              <a:rPr lang="en-US" sz="1500" b="1" dirty="0">
                <a:solidFill>
                  <a:srgbClr val="2C5F2D"/>
                </a:solidFill>
                <a:latin typeface="Calibri" pitchFamily="34" charset="0"/>
                <a:ea typeface="Calibri" pitchFamily="34" charset="-122"/>
                <a:cs typeface="Calibri" pitchFamily="34" charset="-120"/>
              </a:rPr>
              <a:t>Red Onions</a:t>
            </a:r>
            <a:endParaRPr lang="en-US" sz="1500" dirty="0"/>
          </a:p>
        </p:txBody>
      </p:sp>
      <p:sp>
        <p:nvSpPr>
          <p:cNvPr id="10" name="Text 7"/>
          <p:cNvSpPr txBox="1"/>
          <p:nvPr/>
        </p:nvSpPr>
        <p:spPr>
          <a:xfrm>
            <a:off x="8732520" y="3291840"/>
            <a:ext cx="2743200" cy="365760"/>
          </a:xfrm>
          <a:prstGeom prst="rect">
            <a:avLst/>
          </a:prstGeom>
          <a:noFill/>
          <a:ln/>
        </p:spPr>
        <p:txBody>
          <a:bodyPr wrap="square" lIns="0" tIns="0" rIns="0" bIns="0" rtlCol="0" anchor="ctr"/>
          <a:lstStyle/>
          <a:p>
            <a:pPr indent="0" marL="0">
              <a:buNone/>
            </a:pPr>
            <a:r>
              <a:rPr lang="en-US" sz="1300" dirty="0">
                <a:solidFill>
                  <a:srgbClr val="1F2A1F"/>
                </a:solidFill>
                <a:latin typeface="Calibri" pitchFamily="34" charset="0"/>
                <a:ea typeface="Calibri" pitchFamily="34" charset="-122"/>
                <a:cs typeface="Calibri" pitchFamily="34" charset="-120"/>
              </a:rPr>
              <a:t>−44% vs A   −62% vs B</a:t>
            </a:r>
            <a:endParaRPr lang="en-US" sz="1300" dirty="0"/>
          </a:p>
        </p:txBody>
      </p:sp>
      <p:sp>
        <p:nvSpPr>
          <p:cNvPr id="11" name="Shape 8"/>
          <p:cNvSpPr/>
          <p:nvPr/>
        </p:nvSpPr>
        <p:spPr>
          <a:xfrm>
            <a:off x="8503920" y="3931920"/>
            <a:ext cx="3108960" cy="960120"/>
          </a:xfrm>
          <a:prstGeom prst="roundRect">
            <a:avLst>
              <a:gd name="adj" fmla="val 14286"/>
            </a:avLst>
          </a:prstGeom>
          <a:solidFill>
            <a:srgbClr val="EEF4E8"/>
          </a:solidFill>
          <a:ln w="12700">
            <a:solidFill>
              <a:srgbClr val="EEF4E8"/>
            </a:solidFill>
            <a:prstDash val="solid"/>
          </a:ln>
        </p:spPr>
      </p:sp>
      <p:sp>
        <p:nvSpPr>
          <p:cNvPr id="12" name="Text 9"/>
          <p:cNvSpPr txBox="1"/>
          <p:nvPr/>
        </p:nvSpPr>
        <p:spPr>
          <a:xfrm>
            <a:off x="8732520" y="4041648"/>
            <a:ext cx="2743200" cy="320040"/>
          </a:xfrm>
          <a:prstGeom prst="rect">
            <a:avLst/>
          </a:prstGeom>
          <a:noFill/>
          <a:ln/>
        </p:spPr>
        <p:txBody>
          <a:bodyPr wrap="square" lIns="0" tIns="0" rIns="0" bIns="0" rtlCol="0" anchor="ctr"/>
          <a:lstStyle/>
          <a:p>
            <a:pPr indent="0" marL="0">
              <a:buNone/>
            </a:pPr>
            <a:r>
              <a:rPr lang="en-US" sz="1500" b="1" dirty="0">
                <a:solidFill>
                  <a:srgbClr val="2C5F2D"/>
                </a:solidFill>
                <a:latin typeface="Calibri" pitchFamily="34" charset="0"/>
                <a:ea typeface="Calibri" pitchFamily="34" charset="-122"/>
                <a:cs typeface="Calibri" pitchFamily="34" charset="-120"/>
              </a:rPr>
              <a:t>Pumpkin</a:t>
            </a:r>
            <a:endParaRPr lang="en-US" sz="1500" dirty="0"/>
          </a:p>
        </p:txBody>
      </p:sp>
      <p:sp>
        <p:nvSpPr>
          <p:cNvPr id="13" name="Text 10"/>
          <p:cNvSpPr txBox="1"/>
          <p:nvPr/>
        </p:nvSpPr>
        <p:spPr>
          <a:xfrm>
            <a:off x="8732520" y="4389120"/>
            <a:ext cx="2743200" cy="365760"/>
          </a:xfrm>
          <a:prstGeom prst="rect">
            <a:avLst/>
          </a:prstGeom>
          <a:noFill/>
          <a:ln/>
        </p:spPr>
        <p:txBody>
          <a:bodyPr wrap="square" lIns="0" tIns="0" rIns="0" bIns="0" rtlCol="0" anchor="ctr"/>
          <a:lstStyle/>
          <a:p>
            <a:pPr indent="0" marL="0">
              <a:buNone/>
            </a:pPr>
            <a:r>
              <a:rPr lang="en-US" sz="1300" dirty="0">
                <a:solidFill>
                  <a:srgbClr val="1F2A1F"/>
                </a:solidFill>
                <a:latin typeface="Calibri" pitchFamily="34" charset="0"/>
                <a:ea typeface="Calibri" pitchFamily="34" charset="-122"/>
                <a:cs typeface="Calibri" pitchFamily="34" charset="-120"/>
              </a:rPr>
              <a:t>−43% vs A   −62% vs B</a:t>
            </a:r>
            <a:endParaRPr lang="en-US" sz="1300" dirty="0"/>
          </a:p>
        </p:txBody>
      </p:sp>
      <p:sp>
        <p:nvSpPr>
          <p:cNvPr id="14" name="Shape 11"/>
          <p:cNvSpPr/>
          <p:nvPr/>
        </p:nvSpPr>
        <p:spPr>
          <a:xfrm>
            <a:off x="8503920" y="5029200"/>
            <a:ext cx="3108960" cy="960120"/>
          </a:xfrm>
          <a:prstGeom prst="roundRect">
            <a:avLst>
              <a:gd name="adj" fmla="val 14286"/>
            </a:avLst>
          </a:prstGeom>
          <a:solidFill>
            <a:srgbClr val="FBE7E9"/>
          </a:solidFill>
          <a:ln w="12700">
            <a:solidFill>
              <a:srgbClr val="FBE7E9"/>
            </a:solidFill>
            <a:prstDash val="solid"/>
          </a:ln>
        </p:spPr>
      </p:sp>
      <p:sp>
        <p:nvSpPr>
          <p:cNvPr id="15" name="Text 12"/>
          <p:cNvSpPr txBox="1"/>
          <p:nvPr/>
        </p:nvSpPr>
        <p:spPr>
          <a:xfrm>
            <a:off x="8732520" y="5138928"/>
            <a:ext cx="2743200" cy="320040"/>
          </a:xfrm>
          <a:prstGeom prst="rect">
            <a:avLst/>
          </a:prstGeom>
          <a:noFill/>
          <a:ln/>
        </p:spPr>
        <p:txBody>
          <a:bodyPr wrap="square" lIns="0" tIns="0" rIns="0" bIns="0" rtlCol="0" anchor="ctr"/>
          <a:lstStyle/>
          <a:p>
            <a:pPr indent="0" marL="0">
              <a:buNone/>
            </a:pPr>
            <a:r>
              <a:rPr lang="en-US" sz="1500" b="1" dirty="0">
                <a:solidFill>
                  <a:srgbClr val="D7263D"/>
                </a:solidFill>
                <a:latin typeface="Calibri" pitchFamily="34" charset="0"/>
                <a:ea typeface="Calibri" pitchFamily="34" charset="-122"/>
                <a:cs typeface="Calibri" pitchFamily="34" charset="-120"/>
              </a:rPr>
              <a:t>Cucumbers</a:t>
            </a:r>
            <a:endParaRPr lang="en-US" sz="1500" dirty="0"/>
          </a:p>
        </p:txBody>
      </p:sp>
      <p:sp>
        <p:nvSpPr>
          <p:cNvPr id="16" name="Text 13"/>
          <p:cNvSpPr txBox="1"/>
          <p:nvPr/>
        </p:nvSpPr>
        <p:spPr>
          <a:xfrm>
            <a:off x="8732520" y="5486400"/>
            <a:ext cx="2743200" cy="365760"/>
          </a:xfrm>
          <a:prstGeom prst="rect">
            <a:avLst/>
          </a:prstGeom>
          <a:noFill/>
          <a:ln/>
        </p:spPr>
        <p:txBody>
          <a:bodyPr wrap="square" lIns="0" tIns="0" rIns="0" bIns="0" rtlCol="0" anchor="ctr"/>
          <a:lstStyle/>
          <a:p>
            <a:pPr indent="0" marL="0">
              <a:buNone/>
            </a:pPr>
            <a:r>
              <a:rPr lang="en-US" sz="1300" dirty="0">
                <a:solidFill>
                  <a:srgbClr val="1F2A1F"/>
                </a:solidFill>
                <a:latin typeface="Calibri" pitchFamily="34" charset="0"/>
                <a:ea typeface="Calibri" pitchFamily="34" charset="-122"/>
                <a:cs typeface="Calibri" pitchFamily="34" charset="-120"/>
              </a:rPr>
              <a:t>+54% vs A   +60% vs B</a:t>
            </a:r>
            <a:endParaRPr lang="en-US" sz="1300" dirty="0"/>
          </a:p>
        </p:txBody>
      </p:sp>
      <p:sp>
        <p:nvSpPr>
          <p:cNvPr id="17" name="Text 14"/>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900" dirty="0">
                <a:solidFill>
                  <a:srgbClr val="9AA79A"/>
                </a:solidFill>
                <a:latin typeface="Calibri" pitchFamily="34" charset="0"/>
                <a:ea typeface="Calibri" pitchFamily="34" charset="-122"/>
                <a:cs typeface="Calibri" pitchFamily="34" charset="-120"/>
              </a:rPr>
              <a:t>Food First vs two Barbados supermarkets  |  Heart &amp; Stroke Foundation of Barbados  |  prices recorded August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822960"/>
          </a:xfrm>
          <a:prstGeom prst="rect">
            <a:avLst/>
          </a:prstGeom>
          <a:noFill/>
          <a:ln/>
        </p:spPr>
        <p:txBody>
          <a:bodyPr wrap="square" lIns="0" tIns="0" rIns="0" bIns="0" rtlCol="0" anchor="ctr"/>
          <a:lstStyle/>
          <a:p>
            <a:pPr indent="0" marL="0">
              <a:buNone/>
            </a:pPr>
            <a:r>
              <a:rPr lang="en-US" sz="3600" b="1" dirty="0">
                <a:solidFill>
                  <a:srgbClr val="2C5F2D"/>
                </a:solidFill>
                <a:latin typeface="Calibri" pitchFamily="34" charset="0"/>
                <a:ea typeface="Calibri" pitchFamily="34" charset="-122"/>
                <a:cs typeface="Calibri" pitchFamily="34" charset="-120"/>
              </a:rPr>
              <a:t>Fruit: the mixed bag</a:t>
            </a:r>
            <a:endParaRPr lang="en-US" sz="3600" dirty="0"/>
          </a:p>
        </p:txBody>
      </p:sp>
      <p:sp>
        <p:nvSpPr>
          <p:cNvPr id="3" name="Text 1"/>
          <p:cNvSpPr txBox="1"/>
          <p:nvPr/>
        </p:nvSpPr>
        <p:spPr>
          <a:xfrm>
            <a:off x="548640" y="1188720"/>
            <a:ext cx="11091672" cy="457200"/>
          </a:xfrm>
          <a:prstGeom prst="rect">
            <a:avLst/>
          </a:prstGeom>
          <a:noFill/>
          <a:ln/>
        </p:spPr>
        <p:txBody>
          <a:bodyPr wrap="square" lIns="0" tIns="0" rIns="0" bIns="0" rtlCol="0" anchor="ctr"/>
          <a:lstStyle/>
          <a:p>
            <a:pPr indent="0" marL="0">
              <a:buNone/>
            </a:pPr>
            <a:r>
              <a:rPr lang="en-US" sz="1600" dirty="0">
                <a:solidFill>
                  <a:srgbClr val="5C6B5C"/>
                </a:solidFill>
                <a:latin typeface="Calibri" pitchFamily="34" charset="0"/>
                <a:ea typeface="Calibri" pitchFamily="34" charset="-122"/>
                <a:cs typeface="Calibri" pitchFamily="34" charset="-120"/>
              </a:rPr>
              <a:t>Food First cheaper than both supermarkets on 11 of 18 fruit items, but with loud exceptions</a:t>
            </a:r>
            <a:endParaRPr lang="en-US" sz="1600" dirty="0"/>
          </a:p>
        </p:txBody>
      </p:sp>
      <p:sp>
        <p:nvSpPr>
          <p:cNvPr id="4" name="Shape 2"/>
          <p:cNvSpPr/>
          <p:nvPr/>
        </p:nvSpPr>
        <p:spPr>
          <a:xfrm>
            <a:off x="548640" y="1737360"/>
            <a:ext cx="5394960" cy="3931920"/>
          </a:xfrm>
          <a:prstGeom prst="roundRect">
            <a:avLst>
              <a:gd name="adj" fmla="val 3488"/>
            </a:avLst>
          </a:prstGeom>
          <a:solidFill>
            <a:srgbClr val="EEF4E8"/>
          </a:solidFill>
          <a:ln w="12700">
            <a:solidFill>
              <a:srgbClr val="EEF4E8"/>
            </a:solidFill>
            <a:prstDash val="solid"/>
          </a:ln>
        </p:spPr>
      </p:sp>
      <p:sp>
        <p:nvSpPr>
          <p:cNvPr id="5" name="Shape 3"/>
          <p:cNvSpPr/>
          <p:nvPr/>
        </p:nvSpPr>
        <p:spPr>
          <a:xfrm>
            <a:off x="822960" y="1965960"/>
            <a:ext cx="640080" cy="640080"/>
          </a:xfrm>
          <a:prstGeom prst="ellipse">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982980" y="2125980"/>
            <a:ext cx="320040" cy="320040"/>
          </a:xfrm>
          <a:prstGeom prst="rect">
            <a:avLst/>
          </a:prstGeom>
        </p:spPr>
      </p:pic>
      <p:sp>
        <p:nvSpPr>
          <p:cNvPr id="7" name="Text 4"/>
          <p:cNvSpPr txBox="1"/>
          <p:nvPr/>
        </p:nvSpPr>
        <p:spPr>
          <a:xfrm>
            <a:off x="1600200" y="2011680"/>
            <a:ext cx="4114800" cy="548640"/>
          </a:xfrm>
          <a:prstGeom prst="rect">
            <a:avLst/>
          </a:prstGeom>
          <a:noFill/>
          <a:ln/>
        </p:spPr>
        <p:txBody>
          <a:bodyPr wrap="square" lIns="0" tIns="0" rIns="0" bIns="0" rtlCol="0" anchor="ctr"/>
          <a:lstStyle/>
          <a:p>
            <a:pPr indent="0" marL="0">
              <a:buNone/>
            </a:pPr>
            <a:r>
              <a:rPr lang="en-US" sz="2000" b="1" dirty="0">
                <a:solidFill>
                  <a:srgbClr val="2C5F2D"/>
                </a:solidFill>
                <a:latin typeface="Calibri" pitchFamily="34" charset="0"/>
                <a:ea typeface="Calibri" pitchFamily="34" charset="-122"/>
                <a:cs typeface="Calibri" pitchFamily="34" charset="-120"/>
              </a:rPr>
              <a:t>Food First wins</a:t>
            </a:r>
            <a:endParaRPr lang="en-US" sz="2000" dirty="0"/>
          </a:p>
        </p:txBody>
      </p:sp>
      <p:sp>
        <p:nvSpPr>
          <p:cNvPr id="8" name="Text 5"/>
          <p:cNvSpPr txBox="1"/>
          <p:nvPr/>
        </p:nvSpPr>
        <p:spPr>
          <a:xfrm>
            <a:off x="868680" y="2743200"/>
            <a:ext cx="1737360" cy="457200"/>
          </a:xfrm>
          <a:prstGeom prst="rect">
            <a:avLst/>
          </a:prstGeom>
          <a:noFill/>
          <a:ln/>
        </p:spPr>
        <p:txBody>
          <a:bodyPr wrap="square" lIns="0" tIns="0" rIns="0" bIns="0" rtlCol="0" anchor="ctr"/>
          <a:lstStyle/>
          <a:p>
            <a:pPr indent="0" marL="0">
              <a:buNone/>
            </a:pPr>
            <a:r>
              <a:rPr lang="en-US" sz="1500" dirty="0">
                <a:solidFill>
                  <a:srgbClr val="1F2A1F"/>
                </a:solidFill>
                <a:latin typeface="Calibri" pitchFamily="34" charset="0"/>
                <a:ea typeface="Calibri" pitchFamily="34" charset="-122"/>
                <a:cs typeface="Calibri" pitchFamily="34" charset="-120"/>
              </a:rPr>
              <a:t>Gala Apple</a:t>
            </a:r>
            <a:endParaRPr lang="en-US" sz="1500" dirty="0"/>
          </a:p>
        </p:txBody>
      </p:sp>
      <p:sp>
        <p:nvSpPr>
          <p:cNvPr id="9" name="Text 6"/>
          <p:cNvSpPr txBox="1"/>
          <p:nvPr/>
        </p:nvSpPr>
        <p:spPr>
          <a:xfrm>
            <a:off x="2606040" y="2743200"/>
            <a:ext cx="1554480" cy="457200"/>
          </a:xfrm>
          <a:prstGeom prst="rect">
            <a:avLst/>
          </a:prstGeom>
          <a:noFill/>
          <a:ln/>
        </p:spPr>
        <p:txBody>
          <a:bodyPr wrap="square" lIns="0" tIns="0" rIns="0" bIns="0" rtlCol="0" anchor="ctr"/>
          <a:lstStyle/>
          <a:p>
            <a:pPr algn="r" indent="0" marL="0">
              <a:buNone/>
            </a:pPr>
            <a:r>
              <a:rPr lang="en-US" sz="1500" b="1" dirty="0">
                <a:solidFill>
                  <a:srgbClr val="2C5F2D"/>
                </a:solidFill>
                <a:latin typeface="Calibri" pitchFamily="34" charset="0"/>
                <a:ea typeface="Calibri" pitchFamily="34" charset="-122"/>
                <a:cs typeface="Calibri" pitchFamily="34" charset="-120"/>
              </a:rPr>
              <a:t>−75% vs A</a:t>
            </a:r>
            <a:endParaRPr lang="en-US" sz="1500" dirty="0"/>
          </a:p>
        </p:txBody>
      </p:sp>
      <p:sp>
        <p:nvSpPr>
          <p:cNvPr id="10" name="Text 7"/>
          <p:cNvSpPr txBox="1"/>
          <p:nvPr/>
        </p:nvSpPr>
        <p:spPr>
          <a:xfrm>
            <a:off x="4160520" y="2743200"/>
            <a:ext cx="1554480" cy="457200"/>
          </a:xfrm>
          <a:prstGeom prst="rect">
            <a:avLst/>
          </a:prstGeom>
          <a:noFill/>
          <a:ln/>
        </p:spPr>
        <p:txBody>
          <a:bodyPr wrap="square" lIns="0" tIns="0" rIns="0" bIns="0" rtlCol="0" anchor="ctr"/>
          <a:lstStyle/>
          <a:p>
            <a:pPr algn="r" indent="0" marL="0">
              <a:buNone/>
            </a:pPr>
            <a:r>
              <a:rPr lang="en-US" sz="1500" b="1" dirty="0">
                <a:solidFill>
                  <a:srgbClr val="2C5F2D"/>
                </a:solidFill>
                <a:latin typeface="Calibri" pitchFamily="34" charset="0"/>
                <a:ea typeface="Calibri" pitchFamily="34" charset="-122"/>
                <a:cs typeface="Calibri" pitchFamily="34" charset="-120"/>
              </a:rPr>
              <a:t>−66% vs B</a:t>
            </a:r>
            <a:endParaRPr lang="en-US" sz="1500" dirty="0"/>
          </a:p>
        </p:txBody>
      </p:sp>
      <p:sp>
        <p:nvSpPr>
          <p:cNvPr id="11" name="Text 8"/>
          <p:cNvSpPr txBox="1"/>
          <p:nvPr/>
        </p:nvSpPr>
        <p:spPr>
          <a:xfrm>
            <a:off x="868680" y="3429000"/>
            <a:ext cx="1737360" cy="457200"/>
          </a:xfrm>
          <a:prstGeom prst="rect">
            <a:avLst/>
          </a:prstGeom>
          <a:noFill/>
          <a:ln/>
        </p:spPr>
        <p:txBody>
          <a:bodyPr wrap="square" lIns="0" tIns="0" rIns="0" bIns="0" rtlCol="0" anchor="ctr"/>
          <a:lstStyle/>
          <a:p>
            <a:pPr indent="0" marL="0">
              <a:buNone/>
            </a:pPr>
            <a:r>
              <a:rPr lang="en-US" sz="1500" dirty="0">
                <a:solidFill>
                  <a:srgbClr val="1F2A1F"/>
                </a:solidFill>
                <a:latin typeface="Calibri" pitchFamily="34" charset="0"/>
                <a:ea typeface="Calibri" pitchFamily="34" charset="-122"/>
                <a:cs typeface="Calibri" pitchFamily="34" charset="-120"/>
              </a:rPr>
              <a:t>Pears</a:t>
            </a:r>
            <a:endParaRPr lang="en-US" sz="1500" dirty="0"/>
          </a:p>
        </p:txBody>
      </p:sp>
      <p:sp>
        <p:nvSpPr>
          <p:cNvPr id="12" name="Text 9"/>
          <p:cNvSpPr txBox="1"/>
          <p:nvPr/>
        </p:nvSpPr>
        <p:spPr>
          <a:xfrm>
            <a:off x="2606040" y="3429000"/>
            <a:ext cx="1554480" cy="457200"/>
          </a:xfrm>
          <a:prstGeom prst="rect">
            <a:avLst/>
          </a:prstGeom>
          <a:noFill/>
          <a:ln/>
        </p:spPr>
        <p:txBody>
          <a:bodyPr wrap="square" lIns="0" tIns="0" rIns="0" bIns="0" rtlCol="0" anchor="ctr"/>
          <a:lstStyle/>
          <a:p>
            <a:pPr algn="r" indent="0" marL="0">
              <a:buNone/>
            </a:pPr>
            <a:r>
              <a:rPr lang="en-US" sz="1500" b="1" dirty="0">
                <a:solidFill>
                  <a:srgbClr val="2C5F2D"/>
                </a:solidFill>
                <a:latin typeface="Calibri" pitchFamily="34" charset="0"/>
                <a:ea typeface="Calibri" pitchFamily="34" charset="-122"/>
                <a:cs typeface="Calibri" pitchFamily="34" charset="-120"/>
              </a:rPr>
              <a:t>−70% vs A</a:t>
            </a:r>
            <a:endParaRPr lang="en-US" sz="1500" dirty="0"/>
          </a:p>
        </p:txBody>
      </p:sp>
      <p:sp>
        <p:nvSpPr>
          <p:cNvPr id="13" name="Text 10"/>
          <p:cNvSpPr txBox="1"/>
          <p:nvPr/>
        </p:nvSpPr>
        <p:spPr>
          <a:xfrm>
            <a:off x="4160520" y="3429000"/>
            <a:ext cx="1554480" cy="457200"/>
          </a:xfrm>
          <a:prstGeom prst="rect">
            <a:avLst/>
          </a:prstGeom>
          <a:noFill/>
          <a:ln/>
        </p:spPr>
        <p:txBody>
          <a:bodyPr wrap="square" lIns="0" tIns="0" rIns="0" bIns="0" rtlCol="0" anchor="ctr"/>
          <a:lstStyle/>
          <a:p>
            <a:pPr algn="r" indent="0" marL="0">
              <a:buNone/>
            </a:pPr>
            <a:r>
              <a:rPr lang="en-US" sz="1500" b="1" dirty="0">
                <a:solidFill>
                  <a:srgbClr val="2C5F2D"/>
                </a:solidFill>
                <a:latin typeface="Calibri" pitchFamily="34" charset="0"/>
                <a:ea typeface="Calibri" pitchFamily="34" charset="-122"/>
                <a:cs typeface="Calibri" pitchFamily="34" charset="-120"/>
              </a:rPr>
              <a:t>−40% vs B</a:t>
            </a:r>
            <a:endParaRPr lang="en-US" sz="1500" dirty="0"/>
          </a:p>
        </p:txBody>
      </p:sp>
      <p:sp>
        <p:nvSpPr>
          <p:cNvPr id="14" name="Text 11"/>
          <p:cNvSpPr txBox="1"/>
          <p:nvPr/>
        </p:nvSpPr>
        <p:spPr>
          <a:xfrm>
            <a:off x="868680" y="4114800"/>
            <a:ext cx="1737360" cy="457200"/>
          </a:xfrm>
          <a:prstGeom prst="rect">
            <a:avLst/>
          </a:prstGeom>
          <a:noFill/>
          <a:ln/>
        </p:spPr>
        <p:txBody>
          <a:bodyPr wrap="square" lIns="0" tIns="0" rIns="0" bIns="0" rtlCol="0" anchor="ctr"/>
          <a:lstStyle/>
          <a:p>
            <a:pPr indent="0" marL="0">
              <a:buNone/>
            </a:pPr>
            <a:r>
              <a:rPr lang="en-US" sz="1500" dirty="0">
                <a:solidFill>
                  <a:srgbClr val="1F2A1F"/>
                </a:solidFill>
                <a:latin typeface="Calibri" pitchFamily="34" charset="0"/>
                <a:ea typeface="Calibri" pitchFamily="34" charset="-122"/>
                <a:cs typeface="Calibri" pitchFamily="34" charset="-120"/>
              </a:rPr>
              <a:t>Oranges</a:t>
            </a:r>
            <a:endParaRPr lang="en-US" sz="1500" dirty="0"/>
          </a:p>
        </p:txBody>
      </p:sp>
      <p:sp>
        <p:nvSpPr>
          <p:cNvPr id="15" name="Text 12"/>
          <p:cNvSpPr txBox="1"/>
          <p:nvPr/>
        </p:nvSpPr>
        <p:spPr>
          <a:xfrm>
            <a:off x="2606040" y="4114800"/>
            <a:ext cx="1554480" cy="457200"/>
          </a:xfrm>
          <a:prstGeom prst="rect">
            <a:avLst/>
          </a:prstGeom>
          <a:noFill/>
          <a:ln/>
        </p:spPr>
        <p:txBody>
          <a:bodyPr wrap="square" lIns="0" tIns="0" rIns="0" bIns="0" rtlCol="0" anchor="ctr"/>
          <a:lstStyle/>
          <a:p>
            <a:pPr algn="r" indent="0" marL="0">
              <a:buNone/>
            </a:pPr>
            <a:r>
              <a:rPr lang="en-US" sz="1500" b="1" dirty="0">
                <a:solidFill>
                  <a:srgbClr val="2C5F2D"/>
                </a:solidFill>
                <a:latin typeface="Calibri" pitchFamily="34" charset="0"/>
                <a:ea typeface="Calibri" pitchFamily="34" charset="-122"/>
                <a:cs typeface="Calibri" pitchFamily="34" charset="-120"/>
              </a:rPr>
              <a:t>−33% vs A</a:t>
            </a:r>
            <a:endParaRPr lang="en-US" sz="1500" dirty="0"/>
          </a:p>
        </p:txBody>
      </p:sp>
      <p:sp>
        <p:nvSpPr>
          <p:cNvPr id="16" name="Text 13"/>
          <p:cNvSpPr txBox="1"/>
          <p:nvPr/>
        </p:nvSpPr>
        <p:spPr>
          <a:xfrm>
            <a:off x="4160520" y="4114800"/>
            <a:ext cx="1554480" cy="457200"/>
          </a:xfrm>
          <a:prstGeom prst="rect">
            <a:avLst/>
          </a:prstGeom>
          <a:noFill/>
          <a:ln/>
        </p:spPr>
        <p:txBody>
          <a:bodyPr wrap="square" lIns="0" tIns="0" rIns="0" bIns="0" rtlCol="0" anchor="ctr"/>
          <a:lstStyle/>
          <a:p>
            <a:pPr algn="r" indent="0" marL="0">
              <a:buNone/>
            </a:pPr>
            <a:r>
              <a:rPr lang="en-US" sz="1500" b="1" dirty="0">
                <a:solidFill>
                  <a:srgbClr val="2C5F2D"/>
                </a:solidFill>
                <a:latin typeface="Calibri" pitchFamily="34" charset="0"/>
                <a:ea typeface="Calibri" pitchFamily="34" charset="-122"/>
                <a:cs typeface="Calibri" pitchFamily="34" charset="-120"/>
              </a:rPr>
              <a:t>−37% vs B</a:t>
            </a:r>
            <a:endParaRPr lang="en-US" sz="1500" dirty="0"/>
          </a:p>
        </p:txBody>
      </p:sp>
      <p:sp>
        <p:nvSpPr>
          <p:cNvPr id="17" name="Text 14"/>
          <p:cNvSpPr txBox="1"/>
          <p:nvPr/>
        </p:nvSpPr>
        <p:spPr>
          <a:xfrm>
            <a:off x="868680" y="4800600"/>
            <a:ext cx="1737360" cy="457200"/>
          </a:xfrm>
          <a:prstGeom prst="rect">
            <a:avLst/>
          </a:prstGeom>
          <a:noFill/>
          <a:ln/>
        </p:spPr>
        <p:txBody>
          <a:bodyPr wrap="square" lIns="0" tIns="0" rIns="0" bIns="0" rtlCol="0" anchor="ctr"/>
          <a:lstStyle/>
          <a:p>
            <a:pPr indent="0" marL="0">
              <a:buNone/>
            </a:pPr>
            <a:r>
              <a:rPr lang="en-US" sz="1500" dirty="0">
                <a:solidFill>
                  <a:srgbClr val="1F2A1F"/>
                </a:solidFill>
                <a:latin typeface="Calibri" pitchFamily="34" charset="0"/>
                <a:ea typeface="Calibri" pitchFamily="34" charset="-122"/>
                <a:cs typeface="Calibri" pitchFamily="34" charset="-120"/>
              </a:rPr>
              <a:t>Watermelon</a:t>
            </a:r>
            <a:endParaRPr lang="en-US" sz="1500" dirty="0"/>
          </a:p>
        </p:txBody>
      </p:sp>
      <p:sp>
        <p:nvSpPr>
          <p:cNvPr id="18" name="Text 15"/>
          <p:cNvSpPr txBox="1"/>
          <p:nvPr/>
        </p:nvSpPr>
        <p:spPr>
          <a:xfrm>
            <a:off x="2606040" y="4800600"/>
            <a:ext cx="1554480" cy="457200"/>
          </a:xfrm>
          <a:prstGeom prst="rect">
            <a:avLst/>
          </a:prstGeom>
          <a:noFill/>
          <a:ln/>
        </p:spPr>
        <p:txBody>
          <a:bodyPr wrap="square" lIns="0" tIns="0" rIns="0" bIns="0" rtlCol="0" anchor="ctr"/>
          <a:lstStyle/>
          <a:p>
            <a:pPr algn="r" indent="0" marL="0">
              <a:buNone/>
            </a:pPr>
            <a:r>
              <a:rPr lang="en-US" sz="1500" b="1" dirty="0">
                <a:solidFill>
                  <a:srgbClr val="2C5F2D"/>
                </a:solidFill>
                <a:latin typeface="Calibri" pitchFamily="34" charset="0"/>
                <a:ea typeface="Calibri" pitchFamily="34" charset="-122"/>
                <a:cs typeface="Calibri" pitchFamily="34" charset="-120"/>
              </a:rPr>
              <a:t>−36% vs A</a:t>
            </a:r>
            <a:endParaRPr lang="en-US" sz="1500" dirty="0"/>
          </a:p>
        </p:txBody>
      </p:sp>
      <p:sp>
        <p:nvSpPr>
          <p:cNvPr id="19" name="Text 16"/>
          <p:cNvSpPr txBox="1"/>
          <p:nvPr/>
        </p:nvSpPr>
        <p:spPr>
          <a:xfrm>
            <a:off x="4160520" y="4800600"/>
            <a:ext cx="1554480" cy="457200"/>
          </a:xfrm>
          <a:prstGeom prst="rect">
            <a:avLst/>
          </a:prstGeom>
          <a:noFill/>
          <a:ln/>
        </p:spPr>
        <p:txBody>
          <a:bodyPr wrap="square" lIns="0" tIns="0" rIns="0" bIns="0" rtlCol="0" anchor="ctr"/>
          <a:lstStyle/>
          <a:p>
            <a:pPr algn="r" indent="0" marL="0">
              <a:buNone/>
            </a:pPr>
            <a:r>
              <a:rPr lang="en-US" sz="1500" b="1" dirty="0">
                <a:solidFill>
                  <a:srgbClr val="2C5F2D"/>
                </a:solidFill>
                <a:latin typeface="Calibri" pitchFamily="34" charset="0"/>
                <a:ea typeface="Calibri" pitchFamily="34" charset="-122"/>
                <a:cs typeface="Calibri" pitchFamily="34" charset="-120"/>
              </a:rPr>
              <a:t>−15% vs B</a:t>
            </a:r>
            <a:endParaRPr lang="en-US" sz="1500" dirty="0"/>
          </a:p>
        </p:txBody>
      </p:sp>
      <p:sp>
        <p:nvSpPr>
          <p:cNvPr id="20" name="Shape 17"/>
          <p:cNvSpPr/>
          <p:nvPr/>
        </p:nvSpPr>
        <p:spPr>
          <a:xfrm>
            <a:off x="6217920" y="1737360"/>
            <a:ext cx="5394960" cy="3931920"/>
          </a:xfrm>
          <a:prstGeom prst="roundRect">
            <a:avLst>
              <a:gd name="adj" fmla="val 3488"/>
            </a:avLst>
          </a:prstGeom>
          <a:solidFill>
            <a:srgbClr val="EEF4E8"/>
          </a:solidFill>
          <a:ln w="12700">
            <a:solidFill>
              <a:srgbClr val="EEF4E8"/>
            </a:solidFill>
            <a:prstDash val="solid"/>
          </a:ln>
        </p:spPr>
      </p:sp>
      <p:sp>
        <p:nvSpPr>
          <p:cNvPr id="21" name="Shape 18"/>
          <p:cNvSpPr/>
          <p:nvPr/>
        </p:nvSpPr>
        <p:spPr>
          <a:xfrm>
            <a:off x="6492240" y="1965960"/>
            <a:ext cx="640080" cy="640080"/>
          </a:xfrm>
          <a:prstGeom prst="ellipse">
            <a:avLst/>
          </a:prstGeom>
          <a:solidFill>
            <a:srgbClr val="D7263D"/>
          </a:solidFill>
          <a:ln w="12700">
            <a:solidFill>
              <a:srgbClr val="D7263D"/>
            </a:solidFill>
            <a:prstDash val="solid"/>
          </a:ln>
        </p:spPr>
      </p:sp>
      <p:pic>
        <p:nvPicPr>
          <p:cNvPr id="22" name="Image 1" descr="preencoded.png">    </p:cNvPr>
          <p:cNvPicPr>
            <a:picLocks noChangeAspect="1"/>
          </p:cNvPicPr>
          <p:nvPr/>
        </p:nvPicPr>
        <p:blipFill>
          <a:blip r:embed="rId2"/>
          <a:stretch>
            <a:fillRect/>
          </a:stretch>
        </p:blipFill>
        <p:spPr>
          <a:xfrm>
            <a:off x="6652260" y="2125980"/>
            <a:ext cx="320040" cy="320040"/>
          </a:xfrm>
          <a:prstGeom prst="rect">
            <a:avLst/>
          </a:prstGeom>
        </p:spPr>
      </p:pic>
      <p:sp>
        <p:nvSpPr>
          <p:cNvPr id="23" name="Text 19"/>
          <p:cNvSpPr txBox="1"/>
          <p:nvPr/>
        </p:nvSpPr>
        <p:spPr>
          <a:xfrm>
            <a:off x="7269480" y="2011680"/>
            <a:ext cx="4114800" cy="548640"/>
          </a:xfrm>
          <a:prstGeom prst="rect">
            <a:avLst/>
          </a:prstGeom>
          <a:noFill/>
          <a:ln/>
        </p:spPr>
        <p:txBody>
          <a:bodyPr wrap="square" lIns="0" tIns="0" rIns="0" bIns="0" rtlCol="0" anchor="ctr"/>
          <a:lstStyle/>
          <a:p>
            <a:pPr indent="0" marL="0">
              <a:buNone/>
            </a:pPr>
            <a:r>
              <a:rPr lang="en-US" sz="2000" b="1" dirty="0">
                <a:solidFill>
                  <a:srgbClr val="D7263D"/>
                </a:solidFill>
                <a:latin typeface="Calibri" pitchFamily="34" charset="0"/>
                <a:ea typeface="Calibri" pitchFamily="34" charset="-122"/>
                <a:cs typeface="Calibri" pitchFamily="34" charset="-120"/>
              </a:rPr>
              <a:t>Supermarkets win</a:t>
            </a:r>
            <a:endParaRPr lang="en-US" sz="2000" dirty="0"/>
          </a:p>
        </p:txBody>
      </p:sp>
      <p:sp>
        <p:nvSpPr>
          <p:cNvPr id="24" name="Text 20"/>
          <p:cNvSpPr txBox="1"/>
          <p:nvPr/>
        </p:nvSpPr>
        <p:spPr>
          <a:xfrm>
            <a:off x="6537960" y="2743200"/>
            <a:ext cx="1737360" cy="457200"/>
          </a:xfrm>
          <a:prstGeom prst="rect">
            <a:avLst/>
          </a:prstGeom>
          <a:noFill/>
          <a:ln/>
        </p:spPr>
        <p:txBody>
          <a:bodyPr wrap="square" lIns="0" tIns="0" rIns="0" bIns="0" rtlCol="0" anchor="ctr"/>
          <a:lstStyle/>
          <a:p>
            <a:pPr indent="0" marL="0">
              <a:buNone/>
            </a:pPr>
            <a:r>
              <a:rPr lang="en-US" sz="1500" dirty="0">
                <a:solidFill>
                  <a:srgbClr val="1F2A1F"/>
                </a:solidFill>
                <a:latin typeface="Calibri" pitchFamily="34" charset="0"/>
                <a:ea typeface="Calibri" pitchFamily="34" charset="-122"/>
                <a:cs typeface="Calibri" pitchFamily="34" charset="-120"/>
              </a:rPr>
              <a:t>Mangoes</a:t>
            </a:r>
            <a:endParaRPr lang="en-US" sz="1500" dirty="0"/>
          </a:p>
        </p:txBody>
      </p:sp>
      <p:sp>
        <p:nvSpPr>
          <p:cNvPr id="25" name="Text 21"/>
          <p:cNvSpPr txBox="1"/>
          <p:nvPr/>
        </p:nvSpPr>
        <p:spPr>
          <a:xfrm>
            <a:off x="8275320" y="2743200"/>
            <a:ext cx="1554480" cy="457200"/>
          </a:xfrm>
          <a:prstGeom prst="rect">
            <a:avLst/>
          </a:prstGeom>
          <a:noFill/>
          <a:ln/>
        </p:spPr>
        <p:txBody>
          <a:bodyPr wrap="square" lIns="0" tIns="0" rIns="0" bIns="0" rtlCol="0" anchor="ctr"/>
          <a:lstStyle/>
          <a:p>
            <a:pPr algn="r" indent="0" marL="0">
              <a:buNone/>
            </a:pPr>
            <a:r>
              <a:rPr lang="en-US" sz="1500" b="1" dirty="0">
                <a:solidFill>
                  <a:srgbClr val="D7263D"/>
                </a:solidFill>
                <a:latin typeface="Calibri" pitchFamily="34" charset="0"/>
                <a:ea typeface="Calibri" pitchFamily="34" charset="-122"/>
                <a:cs typeface="Calibri" pitchFamily="34" charset="-120"/>
              </a:rPr>
              <a:t>+124% vs A</a:t>
            </a:r>
            <a:endParaRPr lang="en-US" sz="1500" dirty="0"/>
          </a:p>
        </p:txBody>
      </p:sp>
      <p:sp>
        <p:nvSpPr>
          <p:cNvPr id="26" name="Text 22"/>
          <p:cNvSpPr txBox="1"/>
          <p:nvPr/>
        </p:nvSpPr>
        <p:spPr>
          <a:xfrm>
            <a:off x="9829800" y="2743200"/>
            <a:ext cx="1554480" cy="457200"/>
          </a:xfrm>
          <a:prstGeom prst="rect">
            <a:avLst/>
          </a:prstGeom>
          <a:noFill/>
          <a:ln/>
        </p:spPr>
        <p:txBody>
          <a:bodyPr wrap="square" lIns="0" tIns="0" rIns="0" bIns="0" rtlCol="0" anchor="ctr"/>
          <a:lstStyle/>
          <a:p>
            <a:pPr algn="r" indent="0" marL="0">
              <a:buNone/>
            </a:pPr>
            <a:r>
              <a:rPr lang="en-US" sz="1500" b="1" dirty="0">
                <a:solidFill>
                  <a:srgbClr val="D7263D"/>
                </a:solidFill>
                <a:latin typeface="Calibri" pitchFamily="34" charset="0"/>
                <a:ea typeface="Calibri" pitchFamily="34" charset="-122"/>
                <a:cs typeface="Calibri" pitchFamily="34" charset="-120"/>
              </a:rPr>
              <a:t>+88% vs B</a:t>
            </a:r>
            <a:endParaRPr lang="en-US" sz="1500" dirty="0"/>
          </a:p>
        </p:txBody>
      </p:sp>
      <p:sp>
        <p:nvSpPr>
          <p:cNvPr id="27" name="Text 23"/>
          <p:cNvSpPr txBox="1"/>
          <p:nvPr/>
        </p:nvSpPr>
        <p:spPr>
          <a:xfrm>
            <a:off x="6537960" y="3429000"/>
            <a:ext cx="1737360" cy="457200"/>
          </a:xfrm>
          <a:prstGeom prst="rect">
            <a:avLst/>
          </a:prstGeom>
          <a:noFill/>
          <a:ln/>
        </p:spPr>
        <p:txBody>
          <a:bodyPr wrap="square" lIns="0" tIns="0" rIns="0" bIns="0" rtlCol="0" anchor="ctr"/>
          <a:lstStyle/>
          <a:p>
            <a:pPr indent="0" marL="0">
              <a:buNone/>
            </a:pPr>
            <a:r>
              <a:rPr lang="en-US" sz="1500" dirty="0">
                <a:solidFill>
                  <a:srgbClr val="1F2A1F"/>
                </a:solidFill>
                <a:latin typeface="Calibri" pitchFamily="34" charset="0"/>
                <a:ea typeface="Calibri" pitchFamily="34" charset="-122"/>
                <a:cs typeface="Calibri" pitchFamily="34" charset="-120"/>
              </a:rPr>
              <a:t>Red Apples</a:t>
            </a:r>
            <a:endParaRPr lang="en-US" sz="1500" dirty="0"/>
          </a:p>
        </p:txBody>
      </p:sp>
      <p:sp>
        <p:nvSpPr>
          <p:cNvPr id="28" name="Text 24"/>
          <p:cNvSpPr txBox="1"/>
          <p:nvPr/>
        </p:nvSpPr>
        <p:spPr>
          <a:xfrm>
            <a:off x="8275320" y="3429000"/>
            <a:ext cx="1554480" cy="457200"/>
          </a:xfrm>
          <a:prstGeom prst="rect">
            <a:avLst/>
          </a:prstGeom>
          <a:noFill/>
          <a:ln/>
        </p:spPr>
        <p:txBody>
          <a:bodyPr wrap="square" lIns="0" tIns="0" rIns="0" bIns="0" rtlCol="0" anchor="ctr"/>
          <a:lstStyle/>
          <a:p>
            <a:pPr algn="r" indent="0" marL="0">
              <a:buNone/>
            </a:pPr>
            <a:r>
              <a:rPr lang="en-US" sz="1500" b="1" dirty="0">
                <a:solidFill>
                  <a:srgbClr val="D7263D"/>
                </a:solidFill>
                <a:latin typeface="Calibri" pitchFamily="34" charset="0"/>
                <a:ea typeface="Calibri" pitchFamily="34" charset="-122"/>
                <a:cs typeface="Calibri" pitchFamily="34" charset="-120"/>
              </a:rPr>
              <a:t>+67% vs A</a:t>
            </a:r>
            <a:endParaRPr lang="en-US" sz="1500" dirty="0"/>
          </a:p>
        </p:txBody>
      </p:sp>
      <p:sp>
        <p:nvSpPr>
          <p:cNvPr id="29" name="Text 25"/>
          <p:cNvSpPr txBox="1"/>
          <p:nvPr/>
        </p:nvSpPr>
        <p:spPr>
          <a:xfrm>
            <a:off x="9829800" y="3429000"/>
            <a:ext cx="1554480" cy="457200"/>
          </a:xfrm>
          <a:prstGeom prst="rect">
            <a:avLst/>
          </a:prstGeom>
          <a:noFill/>
          <a:ln/>
        </p:spPr>
        <p:txBody>
          <a:bodyPr wrap="square" lIns="0" tIns="0" rIns="0" bIns="0" rtlCol="0" anchor="ctr"/>
          <a:lstStyle/>
          <a:p>
            <a:pPr algn="r" indent="0" marL="0">
              <a:buNone/>
            </a:pPr>
            <a:r>
              <a:rPr lang="en-US" sz="1500" b="1" dirty="0">
                <a:solidFill>
                  <a:srgbClr val="D7263D"/>
                </a:solidFill>
                <a:latin typeface="Calibri" pitchFamily="34" charset="0"/>
                <a:ea typeface="Calibri" pitchFamily="34" charset="-122"/>
                <a:cs typeface="Calibri" pitchFamily="34" charset="-120"/>
              </a:rPr>
              <a:t>+45% vs B</a:t>
            </a:r>
            <a:endParaRPr lang="en-US" sz="1500" dirty="0"/>
          </a:p>
        </p:txBody>
      </p:sp>
      <p:sp>
        <p:nvSpPr>
          <p:cNvPr id="30" name="Text 26"/>
          <p:cNvSpPr txBox="1"/>
          <p:nvPr/>
        </p:nvSpPr>
        <p:spPr>
          <a:xfrm>
            <a:off x="6537960" y="4114800"/>
            <a:ext cx="1737360" cy="457200"/>
          </a:xfrm>
          <a:prstGeom prst="rect">
            <a:avLst/>
          </a:prstGeom>
          <a:noFill/>
          <a:ln/>
        </p:spPr>
        <p:txBody>
          <a:bodyPr wrap="square" lIns="0" tIns="0" rIns="0" bIns="0" rtlCol="0" anchor="ctr"/>
          <a:lstStyle/>
          <a:p>
            <a:pPr indent="0" marL="0">
              <a:buNone/>
            </a:pPr>
            <a:r>
              <a:rPr lang="en-US" sz="1500" dirty="0">
                <a:solidFill>
                  <a:srgbClr val="1F2A1F"/>
                </a:solidFill>
                <a:latin typeface="Calibri" pitchFamily="34" charset="0"/>
                <a:ea typeface="Calibri" pitchFamily="34" charset="-122"/>
                <a:cs typeface="Calibri" pitchFamily="34" charset="-120"/>
              </a:rPr>
              <a:t>Kiwis</a:t>
            </a:r>
            <a:endParaRPr lang="en-US" sz="1500" dirty="0"/>
          </a:p>
        </p:txBody>
      </p:sp>
      <p:sp>
        <p:nvSpPr>
          <p:cNvPr id="31" name="Text 27"/>
          <p:cNvSpPr txBox="1"/>
          <p:nvPr/>
        </p:nvSpPr>
        <p:spPr>
          <a:xfrm>
            <a:off x="8275320" y="4114800"/>
            <a:ext cx="1554480" cy="457200"/>
          </a:xfrm>
          <a:prstGeom prst="rect">
            <a:avLst/>
          </a:prstGeom>
          <a:noFill/>
          <a:ln/>
        </p:spPr>
        <p:txBody>
          <a:bodyPr wrap="square" lIns="0" tIns="0" rIns="0" bIns="0" rtlCol="0" anchor="ctr"/>
          <a:lstStyle/>
          <a:p>
            <a:pPr algn="r" indent="0" marL="0">
              <a:buNone/>
            </a:pPr>
            <a:r>
              <a:rPr lang="en-US" sz="1500" b="1" dirty="0">
                <a:solidFill>
                  <a:srgbClr val="D7263D"/>
                </a:solidFill>
                <a:latin typeface="Calibri" pitchFamily="34" charset="0"/>
                <a:ea typeface="Calibri" pitchFamily="34" charset="-122"/>
                <a:cs typeface="Calibri" pitchFamily="34" charset="-120"/>
              </a:rPr>
              <a:t>+18% vs A</a:t>
            </a:r>
            <a:endParaRPr lang="en-US" sz="1500" dirty="0"/>
          </a:p>
        </p:txBody>
      </p:sp>
      <p:sp>
        <p:nvSpPr>
          <p:cNvPr id="32" name="Text 28"/>
          <p:cNvSpPr txBox="1"/>
          <p:nvPr/>
        </p:nvSpPr>
        <p:spPr>
          <a:xfrm>
            <a:off x="9829800" y="4114800"/>
            <a:ext cx="1554480" cy="457200"/>
          </a:xfrm>
          <a:prstGeom prst="rect">
            <a:avLst/>
          </a:prstGeom>
          <a:noFill/>
          <a:ln/>
        </p:spPr>
        <p:txBody>
          <a:bodyPr wrap="square" lIns="0" tIns="0" rIns="0" bIns="0" rtlCol="0" anchor="ctr"/>
          <a:lstStyle/>
          <a:p>
            <a:pPr algn="r" indent="0" marL="0">
              <a:buNone/>
            </a:pPr>
            <a:r>
              <a:rPr lang="en-US" sz="1500" b="1" dirty="0">
                <a:solidFill>
                  <a:srgbClr val="D7263D"/>
                </a:solidFill>
                <a:latin typeface="Calibri" pitchFamily="34" charset="0"/>
                <a:ea typeface="Calibri" pitchFamily="34" charset="-122"/>
                <a:cs typeface="Calibri" pitchFamily="34" charset="-120"/>
              </a:rPr>
              <a:t>0% vs B</a:t>
            </a:r>
            <a:endParaRPr lang="en-US" sz="1500" dirty="0"/>
          </a:p>
        </p:txBody>
      </p:sp>
      <p:sp>
        <p:nvSpPr>
          <p:cNvPr id="33" name="Text 29"/>
          <p:cNvSpPr txBox="1"/>
          <p:nvPr/>
        </p:nvSpPr>
        <p:spPr>
          <a:xfrm>
            <a:off x="6537960" y="4800600"/>
            <a:ext cx="1737360" cy="457200"/>
          </a:xfrm>
          <a:prstGeom prst="rect">
            <a:avLst/>
          </a:prstGeom>
          <a:noFill/>
          <a:ln/>
        </p:spPr>
        <p:txBody>
          <a:bodyPr wrap="square" lIns="0" tIns="0" rIns="0" bIns="0" rtlCol="0" anchor="ctr"/>
          <a:lstStyle/>
          <a:p>
            <a:pPr indent="0" marL="0">
              <a:buNone/>
            </a:pPr>
            <a:r>
              <a:rPr lang="en-US" sz="1500" dirty="0">
                <a:solidFill>
                  <a:srgbClr val="1F2A1F"/>
                </a:solidFill>
                <a:latin typeface="Calibri" pitchFamily="34" charset="0"/>
                <a:ea typeface="Calibri" pitchFamily="34" charset="-122"/>
                <a:cs typeface="Calibri" pitchFamily="34" charset="-120"/>
              </a:rPr>
              <a:t>Grapefruit</a:t>
            </a:r>
            <a:endParaRPr lang="en-US" sz="1500" dirty="0"/>
          </a:p>
        </p:txBody>
      </p:sp>
      <p:sp>
        <p:nvSpPr>
          <p:cNvPr id="34" name="Text 30"/>
          <p:cNvSpPr txBox="1"/>
          <p:nvPr/>
        </p:nvSpPr>
        <p:spPr>
          <a:xfrm>
            <a:off x="8275320" y="4800600"/>
            <a:ext cx="1554480" cy="457200"/>
          </a:xfrm>
          <a:prstGeom prst="rect">
            <a:avLst/>
          </a:prstGeom>
          <a:noFill/>
          <a:ln/>
        </p:spPr>
        <p:txBody>
          <a:bodyPr wrap="square" lIns="0" tIns="0" rIns="0" bIns="0" rtlCol="0" anchor="ctr"/>
          <a:lstStyle/>
          <a:p>
            <a:pPr algn="r" indent="0" marL="0">
              <a:buNone/>
            </a:pPr>
            <a:r>
              <a:rPr lang="en-US" sz="1500" b="1" dirty="0">
                <a:solidFill>
                  <a:srgbClr val="D7263D"/>
                </a:solidFill>
                <a:latin typeface="Calibri" pitchFamily="34" charset="0"/>
                <a:ea typeface="Calibri" pitchFamily="34" charset="-122"/>
                <a:cs typeface="Calibri" pitchFamily="34" charset="-120"/>
              </a:rPr>
              <a:t>+10% vs A</a:t>
            </a:r>
            <a:endParaRPr lang="en-US" sz="1500" dirty="0"/>
          </a:p>
        </p:txBody>
      </p:sp>
      <p:sp>
        <p:nvSpPr>
          <p:cNvPr id="35" name="Text 31"/>
          <p:cNvSpPr txBox="1"/>
          <p:nvPr/>
        </p:nvSpPr>
        <p:spPr>
          <a:xfrm>
            <a:off x="9829800" y="4800600"/>
            <a:ext cx="1554480" cy="457200"/>
          </a:xfrm>
          <a:prstGeom prst="rect">
            <a:avLst/>
          </a:prstGeom>
          <a:noFill/>
          <a:ln/>
        </p:spPr>
        <p:txBody>
          <a:bodyPr wrap="square" lIns="0" tIns="0" rIns="0" bIns="0" rtlCol="0" anchor="ctr"/>
          <a:lstStyle/>
          <a:p>
            <a:pPr algn="r" indent="0" marL="0">
              <a:buNone/>
            </a:pPr>
            <a:r>
              <a:rPr lang="en-US" sz="1500" b="1" dirty="0">
                <a:solidFill>
                  <a:srgbClr val="D7263D"/>
                </a:solidFill>
                <a:latin typeface="Calibri" pitchFamily="34" charset="0"/>
                <a:ea typeface="Calibri" pitchFamily="34" charset="-122"/>
                <a:cs typeface="Calibri" pitchFamily="34" charset="-120"/>
              </a:rPr>
              <a:t>+0% vs B</a:t>
            </a:r>
            <a:endParaRPr lang="en-US" sz="1500" dirty="0"/>
          </a:p>
        </p:txBody>
      </p:sp>
      <p:sp>
        <p:nvSpPr>
          <p:cNvPr id="36" name="Shape 32"/>
          <p:cNvSpPr/>
          <p:nvPr/>
        </p:nvSpPr>
        <p:spPr>
          <a:xfrm>
            <a:off x="548640" y="5852160"/>
            <a:ext cx="548640" cy="548640"/>
          </a:xfrm>
          <a:prstGeom prst="ellipse">
            <a:avLst/>
          </a:prstGeom>
          <a:solidFill>
            <a:srgbClr val="F2C14E"/>
          </a:solidFill>
          <a:ln w="12700">
            <a:solidFill>
              <a:srgbClr val="F2C14E"/>
            </a:solidFill>
            <a:prstDash val="solid"/>
          </a:ln>
        </p:spPr>
      </p:sp>
      <p:pic>
        <p:nvPicPr>
          <p:cNvPr id="37" name="Image 2" descr="preencoded.png">    </p:cNvPr>
          <p:cNvPicPr>
            <a:picLocks noChangeAspect="1"/>
          </p:cNvPicPr>
          <p:nvPr/>
        </p:nvPicPr>
        <p:blipFill>
          <a:blip r:embed="rId3"/>
          <a:stretch>
            <a:fillRect/>
          </a:stretch>
        </p:blipFill>
        <p:spPr>
          <a:xfrm>
            <a:off x="685800" y="5989320"/>
            <a:ext cx="274320" cy="274320"/>
          </a:xfrm>
          <a:prstGeom prst="rect">
            <a:avLst/>
          </a:prstGeom>
        </p:spPr>
      </p:pic>
      <p:sp>
        <p:nvSpPr>
          <p:cNvPr id="38" name="Text 33"/>
          <p:cNvSpPr txBox="1"/>
          <p:nvPr/>
        </p:nvSpPr>
        <p:spPr>
          <a:xfrm>
            <a:off x="1280160" y="5760720"/>
            <a:ext cx="10332720" cy="731520"/>
          </a:xfrm>
          <a:prstGeom prst="rect">
            <a:avLst/>
          </a:prstGeom>
          <a:noFill/>
          <a:ln/>
        </p:spPr>
        <p:txBody>
          <a:bodyPr wrap="square" lIns="0" tIns="0" rIns="0" bIns="0" rtlCol="0" anchor="ctr"/>
          <a:lstStyle/>
          <a:p>
            <a:pPr indent="0" marL="0">
              <a:buNone/>
            </a:pPr>
            <a:r>
              <a:rPr lang="en-US" sz="1300" i="1" dirty="0">
                <a:solidFill>
                  <a:srgbClr val="5C6B5C"/>
                </a:solidFill>
                <a:latin typeface="Calibri" pitchFamily="34" charset="0"/>
                <a:ea typeface="Calibri" pitchFamily="34" charset="-122"/>
                <a:cs typeface="Calibri" pitchFamily="34" charset="-120"/>
              </a:rPr>
              <a:t>Pattern: temperate fruit shipped from Europe (apples, pears) is cheaper at Food First; tropical fruit the supermarkets can source regionally (mangoes) is not.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822960"/>
          </a:xfrm>
          <a:prstGeom prst="rect">
            <a:avLst/>
          </a:prstGeom>
          <a:noFill/>
          <a:ln/>
        </p:spPr>
        <p:txBody>
          <a:bodyPr wrap="square" lIns="0" tIns="0" rIns="0" bIns="0" rtlCol="0" anchor="ctr"/>
          <a:lstStyle/>
          <a:p>
            <a:pPr indent="0" marL="0">
              <a:buNone/>
            </a:pPr>
            <a:r>
              <a:rPr lang="en-US" sz="3600" b="1" dirty="0">
                <a:solidFill>
                  <a:srgbClr val="2C5F2D"/>
                </a:solidFill>
                <a:latin typeface="Calibri" pitchFamily="34" charset="0"/>
                <a:ea typeface="Calibri" pitchFamily="34" charset="-122"/>
                <a:cs typeface="Calibri" pitchFamily="34" charset="-120"/>
              </a:rPr>
              <a:t>Grocery and dairy: quiet but consistent</a:t>
            </a:r>
            <a:endParaRPr lang="en-US" sz="3600" dirty="0"/>
          </a:p>
        </p:txBody>
      </p:sp>
      <p:sp>
        <p:nvSpPr>
          <p:cNvPr id="3" name="Text 1"/>
          <p:cNvSpPr txBox="1"/>
          <p:nvPr/>
        </p:nvSpPr>
        <p:spPr>
          <a:xfrm>
            <a:off x="548640" y="1188720"/>
            <a:ext cx="11091672" cy="457200"/>
          </a:xfrm>
          <a:prstGeom prst="rect">
            <a:avLst/>
          </a:prstGeom>
          <a:noFill/>
          <a:ln/>
        </p:spPr>
        <p:txBody>
          <a:bodyPr wrap="square" lIns="0" tIns="0" rIns="0" bIns="0" rtlCol="0" anchor="ctr"/>
          <a:lstStyle/>
          <a:p>
            <a:pPr indent="0" marL="0">
              <a:buNone/>
            </a:pPr>
            <a:r>
              <a:rPr lang="en-US" sz="1600" dirty="0">
                <a:solidFill>
                  <a:srgbClr val="5C6B5C"/>
                </a:solidFill>
                <a:latin typeface="Calibri" pitchFamily="34" charset="0"/>
                <a:ea typeface="Calibri" pitchFamily="34" charset="-122"/>
                <a:cs typeface="Calibri" pitchFamily="34" charset="-120"/>
              </a:rPr>
              <a:t>Food First cheaper than both supermarkets on 5 of 6 items</a:t>
            </a:r>
            <a:endParaRPr lang="en-US" sz="1600" dirty="0"/>
          </a:p>
        </p:txBody>
      </p:sp>
      <p:sp>
        <p:nvSpPr>
          <p:cNvPr id="4" name="Shape 2"/>
          <p:cNvSpPr/>
          <p:nvPr/>
        </p:nvSpPr>
        <p:spPr>
          <a:xfrm>
            <a:off x="548640" y="1828800"/>
            <a:ext cx="3520440" cy="1783080"/>
          </a:xfrm>
          <a:prstGeom prst="roundRect">
            <a:avLst>
              <a:gd name="adj" fmla="val 7692"/>
            </a:avLst>
          </a:prstGeom>
          <a:solidFill>
            <a:srgbClr val="EEF4E8"/>
          </a:solidFill>
          <a:ln w="12700">
            <a:solidFill>
              <a:srgbClr val="EEF4E8"/>
            </a:solidFill>
            <a:prstDash val="solid"/>
          </a:ln>
        </p:spPr>
      </p:sp>
      <p:sp>
        <p:nvSpPr>
          <p:cNvPr id="5" name="Shape 3"/>
          <p:cNvSpPr/>
          <p:nvPr/>
        </p:nvSpPr>
        <p:spPr>
          <a:xfrm>
            <a:off x="822960" y="2103120"/>
            <a:ext cx="640080" cy="640080"/>
          </a:xfrm>
          <a:prstGeom prst="ellipse">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982980" y="2263140"/>
            <a:ext cx="320040" cy="320040"/>
          </a:xfrm>
          <a:prstGeom prst="rect">
            <a:avLst/>
          </a:prstGeom>
        </p:spPr>
      </p:pic>
      <p:sp>
        <p:nvSpPr>
          <p:cNvPr id="7" name="Text 4"/>
          <p:cNvSpPr txBox="1"/>
          <p:nvPr/>
        </p:nvSpPr>
        <p:spPr>
          <a:xfrm>
            <a:off x="1600200" y="2103120"/>
            <a:ext cx="2286000" cy="640080"/>
          </a:xfrm>
          <a:prstGeom prst="rect">
            <a:avLst/>
          </a:prstGeom>
          <a:noFill/>
          <a:ln/>
        </p:spPr>
        <p:txBody>
          <a:bodyPr wrap="square" lIns="0" tIns="0" rIns="0" bIns="0" rtlCol="0" anchor="ctr"/>
          <a:lstStyle/>
          <a:p>
            <a:pPr indent="0" marL="0">
              <a:buNone/>
            </a:pPr>
            <a:r>
              <a:rPr lang="en-US" sz="1800" b="1" dirty="0">
                <a:solidFill>
                  <a:srgbClr val="1F2A1F"/>
                </a:solidFill>
                <a:latin typeface="Calibri" pitchFamily="34" charset="0"/>
                <a:ea typeface="Calibri" pitchFamily="34" charset="-122"/>
                <a:cs typeface="Calibri" pitchFamily="34" charset="-120"/>
              </a:rPr>
              <a:t>Whole Milk</a:t>
            </a:r>
            <a:endParaRPr lang="en-US" sz="1800" dirty="0"/>
          </a:p>
        </p:txBody>
      </p:sp>
      <p:sp>
        <p:nvSpPr>
          <p:cNvPr id="8" name="Text 5"/>
          <p:cNvSpPr txBox="1"/>
          <p:nvPr/>
        </p:nvSpPr>
        <p:spPr>
          <a:xfrm>
            <a:off x="822960" y="2834640"/>
            <a:ext cx="3017520" cy="640080"/>
          </a:xfrm>
          <a:prstGeom prst="rect">
            <a:avLst/>
          </a:prstGeom>
          <a:noFill/>
          <a:ln/>
        </p:spPr>
        <p:txBody>
          <a:bodyPr wrap="square" lIns="0" tIns="0" rIns="0" bIns="0" rtlCol="0" anchor="ctr"/>
          <a:lstStyle/>
          <a:p>
            <a:pPr indent="0" marL="0">
              <a:buNone/>
            </a:pPr>
            <a:r>
              <a:rPr lang="en-US" sz="2200" b="1" dirty="0">
                <a:solidFill>
                  <a:srgbClr val="2C5F2D"/>
                </a:solidFill>
                <a:latin typeface="Calibri" pitchFamily="34" charset="0"/>
                <a:ea typeface="Calibri" pitchFamily="34" charset="-122"/>
                <a:cs typeface="Calibri" pitchFamily="34" charset="-120"/>
              </a:rPr>
              <a:t>−41%</a:t>
            </a:r>
            <a:pPr indent="0" marL="0">
              <a:buNone/>
            </a:pPr>
            <a:r>
              <a:rPr lang="en-US" sz="1300" dirty="0">
                <a:solidFill>
                  <a:srgbClr val="5C6B5C"/>
                </a:solidFill>
                <a:latin typeface="Calibri" pitchFamily="34" charset="0"/>
                <a:ea typeface="Calibri" pitchFamily="34" charset="-122"/>
                <a:cs typeface="Calibri" pitchFamily="34" charset="-120"/>
              </a:rPr>
              <a:t> vs A    </a:t>
            </a:r>
            <a:pPr indent="0" marL="0">
              <a:buNone/>
            </a:pPr>
            <a:r>
              <a:rPr lang="en-US" sz="2200" b="1" dirty="0">
                <a:solidFill>
                  <a:srgbClr val="2C5F2D"/>
                </a:solidFill>
                <a:latin typeface="Calibri" pitchFamily="34" charset="0"/>
                <a:ea typeface="Calibri" pitchFamily="34" charset="-122"/>
                <a:cs typeface="Calibri" pitchFamily="34" charset="-120"/>
              </a:rPr>
              <a:t>−43%</a:t>
            </a:r>
            <a:pPr indent="0" marL="0">
              <a:buNone/>
            </a:pPr>
            <a:r>
              <a:rPr lang="en-US" sz="1300" dirty="0">
                <a:solidFill>
                  <a:srgbClr val="5C6B5C"/>
                </a:solidFill>
                <a:latin typeface="Calibri" pitchFamily="34" charset="0"/>
                <a:ea typeface="Calibri" pitchFamily="34" charset="-122"/>
                <a:cs typeface="Calibri" pitchFamily="34" charset="-120"/>
              </a:rPr>
              <a:t> vs B</a:t>
            </a:r>
            <a:endParaRPr lang="en-US" sz="2200" dirty="0"/>
          </a:p>
        </p:txBody>
      </p:sp>
      <p:sp>
        <p:nvSpPr>
          <p:cNvPr id="9" name="Shape 6"/>
          <p:cNvSpPr/>
          <p:nvPr/>
        </p:nvSpPr>
        <p:spPr>
          <a:xfrm>
            <a:off x="4297680" y="1828800"/>
            <a:ext cx="3520440" cy="1783080"/>
          </a:xfrm>
          <a:prstGeom prst="roundRect">
            <a:avLst>
              <a:gd name="adj" fmla="val 7692"/>
            </a:avLst>
          </a:prstGeom>
          <a:solidFill>
            <a:srgbClr val="EEF4E8"/>
          </a:solidFill>
          <a:ln w="12700">
            <a:solidFill>
              <a:srgbClr val="EEF4E8"/>
            </a:solidFill>
            <a:prstDash val="solid"/>
          </a:ln>
        </p:spPr>
      </p:sp>
      <p:sp>
        <p:nvSpPr>
          <p:cNvPr id="10" name="Shape 7"/>
          <p:cNvSpPr/>
          <p:nvPr/>
        </p:nvSpPr>
        <p:spPr>
          <a:xfrm>
            <a:off x="4572000" y="2103120"/>
            <a:ext cx="640080" cy="640080"/>
          </a:xfrm>
          <a:prstGeom prst="ellipse">
            <a:avLst/>
          </a:prstGeom>
          <a:solidFill>
            <a:srgbClr val="2C5F2D"/>
          </a:solidFill>
          <a:ln w="12700">
            <a:solidFill>
              <a:srgbClr val="2C5F2D"/>
            </a:solidFill>
            <a:prstDash val="solid"/>
          </a:ln>
        </p:spPr>
      </p:sp>
      <p:pic>
        <p:nvPicPr>
          <p:cNvPr id="11" name="Image 1" descr="preencoded.png">    </p:cNvPr>
          <p:cNvPicPr>
            <a:picLocks noChangeAspect="1"/>
          </p:cNvPicPr>
          <p:nvPr/>
        </p:nvPicPr>
        <p:blipFill>
          <a:blip r:embed="rId2"/>
          <a:stretch>
            <a:fillRect/>
          </a:stretch>
        </p:blipFill>
        <p:spPr>
          <a:xfrm>
            <a:off x="4732020" y="2263140"/>
            <a:ext cx="320040" cy="320040"/>
          </a:xfrm>
          <a:prstGeom prst="rect">
            <a:avLst/>
          </a:prstGeom>
        </p:spPr>
      </p:pic>
      <p:sp>
        <p:nvSpPr>
          <p:cNvPr id="12" name="Text 8"/>
          <p:cNvSpPr txBox="1"/>
          <p:nvPr/>
        </p:nvSpPr>
        <p:spPr>
          <a:xfrm>
            <a:off x="5349240" y="2103120"/>
            <a:ext cx="2286000" cy="640080"/>
          </a:xfrm>
          <a:prstGeom prst="rect">
            <a:avLst/>
          </a:prstGeom>
          <a:noFill/>
          <a:ln/>
        </p:spPr>
        <p:txBody>
          <a:bodyPr wrap="square" lIns="0" tIns="0" rIns="0" bIns="0" rtlCol="0" anchor="ctr"/>
          <a:lstStyle/>
          <a:p>
            <a:pPr indent="0" marL="0">
              <a:buNone/>
            </a:pPr>
            <a:r>
              <a:rPr lang="en-US" sz="1800" b="1" dirty="0">
                <a:solidFill>
                  <a:srgbClr val="1F2A1F"/>
                </a:solidFill>
                <a:latin typeface="Calibri" pitchFamily="34" charset="0"/>
                <a:ea typeface="Calibri" pitchFamily="34" charset="-122"/>
                <a:cs typeface="Calibri" pitchFamily="34" charset="-120"/>
              </a:rPr>
              <a:t>Cooking Cream</a:t>
            </a:r>
            <a:endParaRPr lang="en-US" sz="1800" dirty="0"/>
          </a:p>
        </p:txBody>
      </p:sp>
      <p:sp>
        <p:nvSpPr>
          <p:cNvPr id="13" name="Text 9"/>
          <p:cNvSpPr txBox="1"/>
          <p:nvPr/>
        </p:nvSpPr>
        <p:spPr>
          <a:xfrm>
            <a:off x="4572000" y="2834640"/>
            <a:ext cx="3017520" cy="640080"/>
          </a:xfrm>
          <a:prstGeom prst="rect">
            <a:avLst/>
          </a:prstGeom>
          <a:noFill/>
          <a:ln/>
        </p:spPr>
        <p:txBody>
          <a:bodyPr wrap="square" lIns="0" tIns="0" rIns="0" bIns="0" rtlCol="0" anchor="ctr"/>
          <a:lstStyle/>
          <a:p>
            <a:pPr indent="0" marL="0">
              <a:buNone/>
            </a:pPr>
            <a:r>
              <a:rPr lang="en-US" sz="2200" b="1" dirty="0">
                <a:solidFill>
                  <a:srgbClr val="2C5F2D"/>
                </a:solidFill>
                <a:latin typeface="Calibri" pitchFamily="34" charset="0"/>
                <a:ea typeface="Calibri" pitchFamily="34" charset="-122"/>
                <a:cs typeface="Calibri" pitchFamily="34" charset="-120"/>
              </a:rPr>
              <a:t>−42%</a:t>
            </a:r>
            <a:pPr indent="0" marL="0">
              <a:buNone/>
            </a:pPr>
            <a:r>
              <a:rPr lang="en-US" sz="1300" dirty="0">
                <a:solidFill>
                  <a:srgbClr val="5C6B5C"/>
                </a:solidFill>
                <a:latin typeface="Calibri" pitchFamily="34" charset="0"/>
                <a:ea typeface="Calibri" pitchFamily="34" charset="-122"/>
                <a:cs typeface="Calibri" pitchFamily="34" charset="-120"/>
              </a:rPr>
              <a:t> vs A    </a:t>
            </a:r>
            <a:pPr indent="0" marL="0">
              <a:buNone/>
            </a:pPr>
            <a:r>
              <a:rPr lang="en-US" sz="2200" b="1" dirty="0">
                <a:solidFill>
                  <a:srgbClr val="2C5F2D"/>
                </a:solidFill>
                <a:latin typeface="Calibri" pitchFamily="34" charset="0"/>
                <a:ea typeface="Calibri" pitchFamily="34" charset="-122"/>
                <a:cs typeface="Calibri" pitchFamily="34" charset="-120"/>
              </a:rPr>
              <a:t>−51%</a:t>
            </a:r>
            <a:pPr indent="0" marL="0">
              <a:buNone/>
            </a:pPr>
            <a:r>
              <a:rPr lang="en-US" sz="1300" dirty="0">
                <a:solidFill>
                  <a:srgbClr val="5C6B5C"/>
                </a:solidFill>
                <a:latin typeface="Calibri" pitchFamily="34" charset="0"/>
                <a:ea typeface="Calibri" pitchFamily="34" charset="-122"/>
                <a:cs typeface="Calibri" pitchFamily="34" charset="-120"/>
              </a:rPr>
              <a:t> vs B</a:t>
            </a:r>
            <a:endParaRPr lang="en-US" sz="2200" dirty="0"/>
          </a:p>
        </p:txBody>
      </p:sp>
      <p:sp>
        <p:nvSpPr>
          <p:cNvPr id="14" name="Shape 10"/>
          <p:cNvSpPr/>
          <p:nvPr/>
        </p:nvSpPr>
        <p:spPr>
          <a:xfrm>
            <a:off x="8046720" y="1828800"/>
            <a:ext cx="3520440" cy="1783080"/>
          </a:xfrm>
          <a:prstGeom prst="roundRect">
            <a:avLst>
              <a:gd name="adj" fmla="val 7692"/>
            </a:avLst>
          </a:prstGeom>
          <a:solidFill>
            <a:srgbClr val="EEF4E8"/>
          </a:solidFill>
          <a:ln w="12700">
            <a:solidFill>
              <a:srgbClr val="EEF4E8"/>
            </a:solidFill>
            <a:prstDash val="solid"/>
          </a:ln>
        </p:spPr>
      </p:sp>
      <p:sp>
        <p:nvSpPr>
          <p:cNvPr id="15" name="Shape 11"/>
          <p:cNvSpPr/>
          <p:nvPr/>
        </p:nvSpPr>
        <p:spPr>
          <a:xfrm>
            <a:off x="8321040" y="2103120"/>
            <a:ext cx="640080" cy="640080"/>
          </a:xfrm>
          <a:prstGeom prst="ellipse">
            <a:avLst/>
          </a:prstGeom>
          <a:solidFill>
            <a:srgbClr val="2C5F2D"/>
          </a:solidFill>
          <a:ln w="12700">
            <a:solidFill>
              <a:srgbClr val="2C5F2D"/>
            </a:solidFill>
            <a:prstDash val="solid"/>
          </a:ln>
        </p:spPr>
      </p:sp>
      <p:pic>
        <p:nvPicPr>
          <p:cNvPr id="16" name="Image 2" descr="preencoded.png">    </p:cNvPr>
          <p:cNvPicPr>
            <a:picLocks noChangeAspect="1"/>
          </p:cNvPicPr>
          <p:nvPr/>
        </p:nvPicPr>
        <p:blipFill>
          <a:blip r:embed="rId3"/>
          <a:stretch>
            <a:fillRect/>
          </a:stretch>
        </p:blipFill>
        <p:spPr>
          <a:xfrm>
            <a:off x="8481060" y="2263140"/>
            <a:ext cx="320040" cy="320040"/>
          </a:xfrm>
          <a:prstGeom prst="rect">
            <a:avLst/>
          </a:prstGeom>
        </p:spPr>
      </p:pic>
      <p:sp>
        <p:nvSpPr>
          <p:cNvPr id="17" name="Text 12"/>
          <p:cNvSpPr txBox="1"/>
          <p:nvPr/>
        </p:nvSpPr>
        <p:spPr>
          <a:xfrm>
            <a:off x="9098280" y="2103120"/>
            <a:ext cx="2286000" cy="640080"/>
          </a:xfrm>
          <a:prstGeom prst="rect">
            <a:avLst/>
          </a:prstGeom>
          <a:noFill/>
          <a:ln/>
        </p:spPr>
        <p:txBody>
          <a:bodyPr wrap="square" lIns="0" tIns="0" rIns="0" bIns="0" rtlCol="0" anchor="ctr"/>
          <a:lstStyle/>
          <a:p>
            <a:pPr indent="0" marL="0">
              <a:buNone/>
            </a:pPr>
            <a:r>
              <a:rPr lang="en-US" sz="1800" b="1" dirty="0">
                <a:solidFill>
                  <a:srgbClr val="1F2A1F"/>
                </a:solidFill>
                <a:latin typeface="Calibri" pitchFamily="34" charset="0"/>
                <a:ea typeface="Calibri" pitchFamily="34" charset="-122"/>
                <a:cs typeface="Calibri" pitchFamily="34" charset="-120"/>
              </a:rPr>
              <a:t>Whipping Cream</a:t>
            </a:r>
            <a:endParaRPr lang="en-US" sz="1800" dirty="0"/>
          </a:p>
        </p:txBody>
      </p:sp>
      <p:sp>
        <p:nvSpPr>
          <p:cNvPr id="18" name="Text 13"/>
          <p:cNvSpPr txBox="1"/>
          <p:nvPr/>
        </p:nvSpPr>
        <p:spPr>
          <a:xfrm>
            <a:off x="8321040" y="2834640"/>
            <a:ext cx="3017520" cy="640080"/>
          </a:xfrm>
          <a:prstGeom prst="rect">
            <a:avLst/>
          </a:prstGeom>
          <a:noFill/>
          <a:ln/>
        </p:spPr>
        <p:txBody>
          <a:bodyPr wrap="square" lIns="0" tIns="0" rIns="0" bIns="0" rtlCol="0" anchor="ctr"/>
          <a:lstStyle/>
          <a:p>
            <a:pPr indent="0" marL="0">
              <a:buNone/>
            </a:pPr>
            <a:r>
              <a:rPr lang="en-US" sz="2200" b="1" dirty="0">
                <a:solidFill>
                  <a:srgbClr val="2C5F2D"/>
                </a:solidFill>
                <a:latin typeface="Calibri" pitchFamily="34" charset="0"/>
                <a:ea typeface="Calibri" pitchFamily="34" charset="-122"/>
                <a:cs typeface="Calibri" pitchFamily="34" charset="-120"/>
              </a:rPr>
              <a:t>−42%</a:t>
            </a:r>
            <a:pPr indent="0" marL="0">
              <a:buNone/>
            </a:pPr>
            <a:r>
              <a:rPr lang="en-US" sz="1300" dirty="0">
                <a:solidFill>
                  <a:srgbClr val="5C6B5C"/>
                </a:solidFill>
                <a:latin typeface="Calibri" pitchFamily="34" charset="0"/>
                <a:ea typeface="Calibri" pitchFamily="34" charset="-122"/>
                <a:cs typeface="Calibri" pitchFamily="34" charset="-120"/>
              </a:rPr>
              <a:t> vs A    </a:t>
            </a:r>
            <a:pPr indent="0" marL="0">
              <a:buNone/>
            </a:pPr>
            <a:r>
              <a:rPr lang="en-US" sz="2200" b="1" dirty="0">
                <a:solidFill>
                  <a:srgbClr val="2C5F2D"/>
                </a:solidFill>
                <a:latin typeface="Calibri" pitchFamily="34" charset="0"/>
                <a:ea typeface="Calibri" pitchFamily="34" charset="-122"/>
                <a:cs typeface="Calibri" pitchFamily="34" charset="-120"/>
              </a:rPr>
              <a:t>−52%</a:t>
            </a:r>
            <a:pPr indent="0" marL="0">
              <a:buNone/>
            </a:pPr>
            <a:r>
              <a:rPr lang="en-US" sz="1300" dirty="0">
                <a:solidFill>
                  <a:srgbClr val="5C6B5C"/>
                </a:solidFill>
                <a:latin typeface="Calibri" pitchFamily="34" charset="0"/>
                <a:ea typeface="Calibri" pitchFamily="34" charset="-122"/>
                <a:cs typeface="Calibri" pitchFamily="34" charset="-120"/>
              </a:rPr>
              <a:t> vs B</a:t>
            </a:r>
            <a:endParaRPr lang="en-US" sz="2200" dirty="0"/>
          </a:p>
        </p:txBody>
      </p:sp>
      <p:sp>
        <p:nvSpPr>
          <p:cNvPr id="19" name="Shape 14"/>
          <p:cNvSpPr/>
          <p:nvPr/>
        </p:nvSpPr>
        <p:spPr>
          <a:xfrm>
            <a:off x="548640" y="3840480"/>
            <a:ext cx="3520440" cy="1783080"/>
          </a:xfrm>
          <a:prstGeom prst="roundRect">
            <a:avLst>
              <a:gd name="adj" fmla="val 7692"/>
            </a:avLst>
          </a:prstGeom>
          <a:solidFill>
            <a:srgbClr val="EEF4E8"/>
          </a:solidFill>
          <a:ln w="12700">
            <a:solidFill>
              <a:srgbClr val="EEF4E8"/>
            </a:solidFill>
            <a:prstDash val="solid"/>
          </a:ln>
        </p:spPr>
      </p:sp>
      <p:sp>
        <p:nvSpPr>
          <p:cNvPr id="20" name="Shape 15"/>
          <p:cNvSpPr/>
          <p:nvPr/>
        </p:nvSpPr>
        <p:spPr>
          <a:xfrm>
            <a:off x="822960" y="4114800"/>
            <a:ext cx="640080" cy="640080"/>
          </a:xfrm>
          <a:prstGeom prst="ellipse">
            <a:avLst/>
          </a:prstGeom>
          <a:solidFill>
            <a:srgbClr val="2C5F2D"/>
          </a:solidFill>
          <a:ln w="12700">
            <a:solidFill>
              <a:srgbClr val="2C5F2D"/>
            </a:solidFill>
            <a:prstDash val="solid"/>
          </a:ln>
        </p:spPr>
      </p:sp>
      <p:pic>
        <p:nvPicPr>
          <p:cNvPr id="21" name="Image 3" descr="preencoded.png">    </p:cNvPr>
          <p:cNvPicPr>
            <a:picLocks noChangeAspect="1"/>
          </p:cNvPicPr>
          <p:nvPr/>
        </p:nvPicPr>
        <p:blipFill>
          <a:blip r:embed="rId4"/>
          <a:stretch>
            <a:fillRect/>
          </a:stretch>
        </p:blipFill>
        <p:spPr>
          <a:xfrm>
            <a:off x="982980" y="4274820"/>
            <a:ext cx="320040" cy="320040"/>
          </a:xfrm>
          <a:prstGeom prst="rect">
            <a:avLst/>
          </a:prstGeom>
        </p:spPr>
      </p:pic>
      <p:sp>
        <p:nvSpPr>
          <p:cNvPr id="22" name="Text 16"/>
          <p:cNvSpPr txBox="1"/>
          <p:nvPr/>
        </p:nvSpPr>
        <p:spPr>
          <a:xfrm>
            <a:off x="1600200" y="4114800"/>
            <a:ext cx="2286000" cy="640080"/>
          </a:xfrm>
          <a:prstGeom prst="rect">
            <a:avLst/>
          </a:prstGeom>
          <a:noFill/>
          <a:ln/>
        </p:spPr>
        <p:txBody>
          <a:bodyPr wrap="square" lIns="0" tIns="0" rIns="0" bIns="0" rtlCol="0" anchor="ctr"/>
          <a:lstStyle/>
          <a:p>
            <a:pPr indent="0" marL="0">
              <a:buNone/>
            </a:pPr>
            <a:r>
              <a:rPr lang="en-US" sz="1800" b="1" dirty="0">
                <a:solidFill>
                  <a:srgbClr val="1F2A1F"/>
                </a:solidFill>
                <a:latin typeface="Calibri" pitchFamily="34" charset="0"/>
                <a:ea typeface="Calibri" pitchFamily="34" charset="-122"/>
                <a:cs typeface="Calibri" pitchFamily="34" charset="-120"/>
              </a:rPr>
              <a:t>Local Onions</a:t>
            </a:r>
            <a:endParaRPr lang="en-US" sz="1800" dirty="0"/>
          </a:p>
        </p:txBody>
      </p:sp>
      <p:sp>
        <p:nvSpPr>
          <p:cNvPr id="23" name="Text 17"/>
          <p:cNvSpPr txBox="1"/>
          <p:nvPr/>
        </p:nvSpPr>
        <p:spPr>
          <a:xfrm>
            <a:off x="822960" y="4846320"/>
            <a:ext cx="3017520" cy="640080"/>
          </a:xfrm>
          <a:prstGeom prst="rect">
            <a:avLst/>
          </a:prstGeom>
          <a:noFill/>
          <a:ln/>
        </p:spPr>
        <p:txBody>
          <a:bodyPr wrap="square" lIns="0" tIns="0" rIns="0" bIns="0" rtlCol="0" anchor="ctr"/>
          <a:lstStyle/>
          <a:p>
            <a:pPr indent="0" marL="0">
              <a:buNone/>
            </a:pPr>
            <a:r>
              <a:rPr lang="en-US" sz="2200" b="1" dirty="0">
                <a:solidFill>
                  <a:srgbClr val="2C5F2D"/>
                </a:solidFill>
                <a:latin typeface="Calibri" pitchFamily="34" charset="0"/>
                <a:ea typeface="Calibri" pitchFamily="34" charset="-122"/>
                <a:cs typeface="Calibri" pitchFamily="34" charset="-120"/>
              </a:rPr>
              <a:t>−43%</a:t>
            </a:r>
            <a:pPr indent="0" marL="0">
              <a:buNone/>
            </a:pPr>
            <a:r>
              <a:rPr lang="en-US" sz="1300" dirty="0">
                <a:solidFill>
                  <a:srgbClr val="5C6B5C"/>
                </a:solidFill>
                <a:latin typeface="Calibri" pitchFamily="34" charset="0"/>
                <a:ea typeface="Calibri" pitchFamily="34" charset="-122"/>
                <a:cs typeface="Calibri" pitchFamily="34" charset="-120"/>
              </a:rPr>
              <a:t> vs A    </a:t>
            </a:r>
            <a:pPr indent="0" marL="0">
              <a:buNone/>
            </a:pPr>
            <a:r>
              <a:rPr lang="en-US" sz="2200" b="1" dirty="0">
                <a:solidFill>
                  <a:srgbClr val="2C5F2D"/>
                </a:solidFill>
                <a:latin typeface="Calibri" pitchFamily="34" charset="0"/>
                <a:ea typeface="Calibri" pitchFamily="34" charset="-122"/>
                <a:cs typeface="Calibri" pitchFamily="34" charset="-120"/>
              </a:rPr>
              <a:t>−50%</a:t>
            </a:r>
            <a:pPr indent="0" marL="0">
              <a:buNone/>
            </a:pPr>
            <a:r>
              <a:rPr lang="en-US" sz="1300" dirty="0">
                <a:solidFill>
                  <a:srgbClr val="5C6B5C"/>
                </a:solidFill>
                <a:latin typeface="Calibri" pitchFamily="34" charset="0"/>
                <a:ea typeface="Calibri" pitchFamily="34" charset="-122"/>
                <a:cs typeface="Calibri" pitchFamily="34" charset="-120"/>
              </a:rPr>
              <a:t> vs B</a:t>
            </a:r>
            <a:endParaRPr lang="en-US" sz="2200" dirty="0"/>
          </a:p>
        </p:txBody>
      </p:sp>
      <p:sp>
        <p:nvSpPr>
          <p:cNvPr id="24" name="Shape 18"/>
          <p:cNvSpPr/>
          <p:nvPr/>
        </p:nvSpPr>
        <p:spPr>
          <a:xfrm>
            <a:off x="4297680" y="3840480"/>
            <a:ext cx="3520440" cy="1783080"/>
          </a:xfrm>
          <a:prstGeom prst="roundRect">
            <a:avLst>
              <a:gd name="adj" fmla="val 7692"/>
            </a:avLst>
          </a:prstGeom>
          <a:solidFill>
            <a:srgbClr val="EEF4E8"/>
          </a:solidFill>
          <a:ln w="12700">
            <a:solidFill>
              <a:srgbClr val="EEF4E8"/>
            </a:solidFill>
            <a:prstDash val="solid"/>
          </a:ln>
        </p:spPr>
      </p:sp>
      <p:sp>
        <p:nvSpPr>
          <p:cNvPr id="25" name="Shape 19"/>
          <p:cNvSpPr/>
          <p:nvPr/>
        </p:nvSpPr>
        <p:spPr>
          <a:xfrm>
            <a:off x="4572000" y="4114800"/>
            <a:ext cx="640080" cy="640080"/>
          </a:xfrm>
          <a:prstGeom prst="ellipse">
            <a:avLst/>
          </a:prstGeom>
          <a:solidFill>
            <a:srgbClr val="5C6B5C"/>
          </a:solidFill>
          <a:ln w="12700">
            <a:solidFill>
              <a:srgbClr val="5C6B5C"/>
            </a:solidFill>
            <a:prstDash val="solid"/>
          </a:ln>
        </p:spPr>
      </p:sp>
      <p:pic>
        <p:nvPicPr>
          <p:cNvPr id="26" name="Image 4" descr="preencoded.png">    </p:cNvPr>
          <p:cNvPicPr>
            <a:picLocks noChangeAspect="1"/>
          </p:cNvPicPr>
          <p:nvPr/>
        </p:nvPicPr>
        <p:blipFill>
          <a:blip r:embed="rId5"/>
          <a:stretch>
            <a:fillRect/>
          </a:stretch>
        </p:blipFill>
        <p:spPr>
          <a:xfrm>
            <a:off x="4732020" y="4274820"/>
            <a:ext cx="320040" cy="320040"/>
          </a:xfrm>
          <a:prstGeom prst="rect">
            <a:avLst/>
          </a:prstGeom>
        </p:spPr>
      </p:pic>
      <p:sp>
        <p:nvSpPr>
          <p:cNvPr id="27" name="Text 20"/>
          <p:cNvSpPr txBox="1"/>
          <p:nvPr/>
        </p:nvSpPr>
        <p:spPr>
          <a:xfrm>
            <a:off x="5349240" y="4114800"/>
            <a:ext cx="2286000" cy="640080"/>
          </a:xfrm>
          <a:prstGeom prst="rect">
            <a:avLst/>
          </a:prstGeom>
          <a:noFill/>
          <a:ln/>
        </p:spPr>
        <p:txBody>
          <a:bodyPr wrap="square" lIns="0" tIns="0" rIns="0" bIns="0" rtlCol="0" anchor="ctr"/>
          <a:lstStyle/>
          <a:p>
            <a:pPr indent="0" marL="0">
              <a:buNone/>
            </a:pPr>
            <a:r>
              <a:rPr lang="en-US" sz="1800" b="1" dirty="0">
                <a:solidFill>
                  <a:srgbClr val="1F2A1F"/>
                </a:solidFill>
                <a:latin typeface="Calibri" pitchFamily="34" charset="0"/>
                <a:ea typeface="Calibri" pitchFamily="34" charset="-122"/>
                <a:cs typeface="Calibri" pitchFamily="34" charset="-120"/>
              </a:rPr>
              <a:t>Eggs</a:t>
            </a:r>
            <a:endParaRPr lang="en-US" sz="1800" dirty="0"/>
          </a:p>
        </p:txBody>
      </p:sp>
      <p:sp>
        <p:nvSpPr>
          <p:cNvPr id="28" name="Text 21"/>
          <p:cNvSpPr txBox="1"/>
          <p:nvPr/>
        </p:nvSpPr>
        <p:spPr>
          <a:xfrm>
            <a:off x="4572000" y="4846320"/>
            <a:ext cx="3017520" cy="640080"/>
          </a:xfrm>
          <a:prstGeom prst="rect">
            <a:avLst/>
          </a:prstGeom>
          <a:noFill/>
          <a:ln/>
        </p:spPr>
        <p:txBody>
          <a:bodyPr wrap="square" lIns="0" tIns="0" rIns="0" bIns="0" rtlCol="0" anchor="ctr"/>
          <a:lstStyle/>
          <a:p>
            <a:pPr indent="0" marL="0">
              <a:buNone/>
            </a:pPr>
            <a:r>
              <a:rPr lang="en-US" sz="2200" b="1" dirty="0">
                <a:solidFill>
                  <a:srgbClr val="2C5F2D"/>
                </a:solidFill>
                <a:latin typeface="Calibri" pitchFamily="34" charset="0"/>
                <a:ea typeface="Calibri" pitchFamily="34" charset="-122"/>
                <a:cs typeface="Calibri" pitchFamily="34" charset="-120"/>
              </a:rPr>
              <a:t>−4%</a:t>
            </a:r>
            <a:pPr indent="0" marL="0">
              <a:buNone/>
            </a:pPr>
            <a:r>
              <a:rPr lang="en-US" sz="1300" dirty="0">
                <a:solidFill>
                  <a:srgbClr val="5C6B5C"/>
                </a:solidFill>
                <a:latin typeface="Calibri" pitchFamily="34" charset="0"/>
                <a:ea typeface="Calibri" pitchFamily="34" charset="-122"/>
                <a:cs typeface="Calibri" pitchFamily="34" charset="-120"/>
              </a:rPr>
              <a:t> vs A    </a:t>
            </a:r>
            <a:pPr indent="0" marL="0">
              <a:buNone/>
            </a:pPr>
            <a:r>
              <a:rPr lang="en-US" sz="2200" b="1" dirty="0">
                <a:solidFill>
                  <a:srgbClr val="2C5F2D"/>
                </a:solidFill>
                <a:latin typeface="Calibri" pitchFamily="34" charset="0"/>
                <a:ea typeface="Calibri" pitchFamily="34" charset="-122"/>
                <a:cs typeface="Calibri" pitchFamily="34" charset="-120"/>
              </a:rPr>
              <a:t>−3%</a:t>
            </a:r>
            <a:pPr indent="0" marL="0">
              <a:buNone/>
            </a:pPr>
            <a:r>
              <a:rPr lang="en-US" sz="1300" dirty="0">
                <a:solidFill>
                  <a:srgbClr val="5C6B5C"/>
                </a:solidFill>
                <a:latin typeface="Calibri" pitchFamily="34" charset="0"/>
                <a:ea typeface="Calibri" pitchFamily="34" charset="-122"/>
                <a:cs typeface="Calibri" pitchFamily="34" charset="-120"/>
              </a:rPr>
              <a:t> vs B</a:t>
            </a:r>
            <a:endParaRPr lang="en-US" sz="2200" dirty="0"/>
          </a:p>
        </p:txBody>
      </p:sp>
      <p:sp>
        <p:nvSpPr>
          <p:cNvPr id="29" name="Shape 22"/>
          <p:cNvSpPr/>
          <p:nvPr/>
        </p:nvSpPr>
        <p:spPr>
          <a:xfrm>
            <a:off x="8046720" y="3840480"/>
            <a:ext cx="3520440" cy="1783080"/>
          </a:xfrm>
          <a:prstGeom prst="roundRect">
            <a:avLst>
              <a:gd name="adj" fmla="val 7692"/>
            </a:avLst>
          </a:prstGeom>
          <a:solidFill>
            <a:srgbClr val="EEF4E8"/>
          </a:solidFill>
          <a:ln w="12700">
            <a:solidFill>
              <a:srgbClr val="EEF4E8"/>
            </a:solidFill>
            <a:prstDash val="solid"/>
          </a:ln>
        </p:spPr>
      </p:sp>
      <p:sp>
        <p:nvSpPr>
          <p:cNvPr id="30" name="Shape 23"/>
          <p:cNvSpPr/>
          <p:nvPr/>
        </p:nvSpPr>
        <p:spPr>
          <a:xfrm>
            <a:off x="8321040" y="4114800"/>
            <a:ext cx="640080" cy="640080"/>
          </a:xfrm>
          <a:prstGeom prst="ellipse">
            <a:avLst/>
          </a:prstGeom>
          <a:solidFill>
            <a:srgbClr val="5C6B5C"/>
          </a:solidFill>
          <a:ln w="12700">
            <a:solidFill>
              <a:srgbClr val="5C6B5C"/>
            </a:solidFill>
            <a:prstDash val="solid"/>
          </a:ln>
        </p:spPr>
      </p:sp>
      <p:pic>
        <p:nvPicPr>
          <p:cNvPr id="31" name="Image 5" descr="preencoded.png">    </p:cNvPr>
          <p:cNvPicPr>
            <a:picLocks noChangeAspect="1"/>
          </p:cNvPicPr>
          <p:nvPr/>
        </p:nvPicPr>
        <p:blipFill>
          <a:blip r:embed="rId6"/>
          <a:stretch>
            <a:fillRect/>
          </a:stretch>
        </p:blipFill>
        <p:spPr>
          <a:xfrm>
            <a:off x="8481060" y="4274820"/>
            <a:ext cx="320040" cy="320040"/>
          </a:xfrm>
          <a:prstGeom prst="rect">
            <a:avLst/>
          </a:prstGeom>
        </p:spPr>
      </p:pic>
      <p:sp>
        <p:nvSpPr>
          <p:cNvPr id="32" name="Text 24"/>
          <p:cNvSpPr txBox="1"/>
          <p:nvPr/>
        </p:nvSpPr>
        <p:spPr>
          <a:xfrm>
            <a:off x="9098280" y="4114800"/>
            <a:ext cx="2286000" cy="640080"/>
          </a:xfrm>
          <a:prstGeom prst="rect">
            <a:avLst/>
          </a:prstGeom>
          <a:noFill/>
          <a:ln/>
        </p:spPr>
        <p:txBody>
          <a:bodyPr wrap="square" lIns="0" tIns="0" rIns="0" bIns="0" rtlCol="0" anchor="ctr"/>
          <a:lstStyle/>
          <a:p>
            <a:pPr indent="0" marL="0">
              <a:buNone/>
            </a:pPr>
            <a:r>
              <a:rPr lang="en-US" sz="1800" b="1" dirty="0">
                <a:solidFill>
                  <a:srgbClr val="1F2A1F"/>
                </a:solidFill>
                <a:latin typeface="Calibri" pitchFamily="34" charset="0"/>
                <a:ea typeface="Calibri" pitchFamily="34" charset="-122"/>
                <a:cs typeface="Calibri" pitchFamily="34" charset="-120"/>
              </a:rPr>
              <a:t>Oat Milk</a:t>
            </a:r>
            <a:endParaRPr lang="en-US" sz="1800" dirty="0"/>
          </a:p>
        </p:txBody>
      </p:sp>
      <p:sp>
        <p:nvSpPr>
          <p:cNvPr id="33" name="Text 25"/>
          <p:cNvSpPr txBox="1"/>
          <p:nvPr/>
        </p:nvSpPr>
        <p:spPr>
          <a:xfrm>
            <a:off x="8321040" y="4846320"/>
            <a:ext cx="3017520" cy="640080"/>
          </a:xfrm>
          <a:prstGeom prst="rect">
            <a:avLst/>
          </a:prstGeom>
          <a:noFill/>
          <a:ln/>
        </p:spPr>
        <p:txBody>
          <a:bodyPr wrap="square" lIns="0" tIns="0" rIns="0" bIns="0" rtlCol="0" anchor="ctr"/>
          <a:lstStyle/>
          <a:p>
            <a:pPr indent="0" marL="0">
              <a:buNone/>
            </a:pPr>
            <a:r>
              <a:rPr lang="en-US" sz="2200" b="1" dirty="0">
                <a:solidFill>
                  <a:srgbClr val="D7263D"/>
                </a:solidFill>
                <a:latin typeface="Calibri" pitchFamily="34" charset="0"/>
                <a:ea typeface="Calibri" pitchFamily="34" charset="-122"/>
                <a:cs typeface="Calibri" pitchFamily="34" charset="-120"/>
              </a:rPr>
              <a:t>+1%</a:t>
            </a:r>
            <a:pPr indent="0" marL="0">
              <a:buNone/>
            </a:pPr>
            <a:r>
              <a:rPr lang="en-US" sz="1300" dirty="0">
                <a:solidFill>
                  <a:srgbClr val="5C6B5C"/>
                </a:solidFill>
                <a:latin typeface="Calibri" pitchFamily="34" charset="0"/>
                <a:ea typeface="Calibri" pitchFamily="34" charset="-122"/>
                <a:cs typeface="Calibri" pitchFamily="34" charset="-120"/>
              </a:rPr>
              <a:t> vs A    </a:t>
            </a:r>
            <a:pPr indent="0" marL="0">
              <a:buNone/>
            </a:pPr>
            <a:r>
              <a:rPr lang="en-US" sz="2200" b="1" dirty="0">
                <a:solidFill>
                  <a:srgbClr val="2C5F2D"/>
                </a:solidFill>
                <a:latin typeface="Calibri" pitchFamily="34" charset="0"/>
                <a:ea typeface="Calibri" pitchFamily="34" charset="-122"/>
                <a:cs typeface="Calibri" pitchFamily="34" charset="-120"/>
              </a:rPr>
              <a:t>−23%</a:t>
            </a:r>
            <a:pPr indent="0" marL="0">
              <a:buNone/>
            </a:pPr>
            <a:r>
              <a:rPr lang="en-US" sz="1300" dirty="0">
                <a:solidFill>
                  <a:srgbClr val="5C6B5C"/>
                </a:solidFill>
                <a:latin typeface="Calibri" pitchFamily="34" charset="0"/>
                <a:ea typeface="Calibri" pitchFamily="34" charset="-122"/>
                <a:cs typeface="Calibri" pitchFamily="34" charset="-120"/>
              </a:rPr>
              <a:t> vs B</a:t>
            </a:r>
            <a:endParaRPr lang="en-US" sz="2200" dirty="0"/>
          </a:p>
        </p:txBody>
      </p:sp>
      <p:sp>
        <p:nvSpPr>
          <p:cNvPr id="34" name="Text 26"/>
          <p:cNvSpPr txBox="1"/>
          <p:nvPr/>
        </p:nvSpPr>
        <p:spPr>
          <a:xfrm>
            <a:off x="548640" y="5897880"/>
            <a:ext cx="10972800" cy="320040"/>
          </a:xfrm>
          <a:prstGeom prst="rect">
            <a:avLst/>
          </a:prstGeom>
          <a:noFill/>
          <a:ln/>
        </p:spPr>
        <p:txBody>
          <a:bodyPr wrap="square" lIns="0" tIns="0" rIns="0" bIns="0" rtlCol="0" anchor="ctr"/>
          <a:lstStyle/>
          <a:p>
            <a:pPr indent="0" marL="0">
              <a:buNone/>
            </a:pPr>
            <a:r>
              <a:rPr lang="en-US" sz="1100" i="1" dirty="0">
                <a:solidFill>
                  <a:srgbClr val="5C6B5C"/>
                </a:solidFill>
                <a:latin typeface="Calibri" pitchFamily="34" charset="0"/>
                <a:ea typeface="Calibri" pitchFamily="34" charset="-122"/>
                <a:cs typeface="Calibri" pitchFamily="34" charset="-120"/>
              </a:rPr>
              <a:t>Milk and cream are priced per litre, eggs per dozen, onions per kg.</a:t>
            </a:r>
            <a:endParaRPr lang="en-US" sz="1100" dirty="0"/>
          </a:p>
        </p:txBody>
      </p:sp>
      <p:sp>
        <p:nvSpPr>
          <p:cNvPr id="35" name="Text 27"/>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900" dirty="0">
                <a:solidFill>
                  <a:srgbClr val="9AA79A"/>
                </a:solidFill>
                <a:latin typeface="Calibri" pitchFamily="34" charset="0"/>
                <a:ea typeface="Calibri" pitchFamily="34" charset="-122"/>
                <a:cs typeface="Calibri" pitchFamily="34" charset="-120"/>
              </a:rPr>
              <a:t>Food First vs two Barbados supermarkets  |  Heart &amp; Stroke Foundation of Barbados  |  prices recorded August 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822960"/>
          </a:xfrm>
          <a:prstGeom prst="rect">
            <a:avLst/>
          </a:prstGeom>
          <a:noFill/>
          <a:ln/>
        </p:spPr>
        <p:txBody>
          <a:bodyPr wrap="square" lIns="0" tIns="0" rIns="0" bIns="0" rtlCol="0" anchor="ctr"/>
          <a:lstStyle/>
          <a:p>
            <a:pPr indent="0" marL="0">
              <a:buNone/>
            </a:pPr>
            <a:r>
              <a:rPr lang="en-US" sz="3600" b="1" dirty="0">
                <a:solidFill>
                  <a:srgbClr val="2C5F2D"/>
                </a:solidFill>
                <a:latin typeface="Calibri" pitchFamily="34" charset="0"/>
                <a:ea typeface="Calibri" pitchFamily="34" charset="-122"/>
                <a:cs typeface="Calibri" pitchFamily="34" charset="-120"/>
              </a:rPr>
              <a:t>Fill the basket</a:t>
            </a:r>
            <a:endParaRPr lang="en-US" sz="3600" dirty="0"/>
          </a:p>
        </p:txBody>
      </p:sp>
      <p:sp>
        <p:nvSpPr>
          <p:cNvPr id="3" name="Text 1"/>
          <p:cNvSpPr txBox="1"/>
          <p:nvPr/>
        </p:nvSpPr>
        <p:spPr>
          <a:xfrm>
            <a:off x="548640" y="1188720"/>
            <a:ext cx="11091672" cy="457200"/>
          </a:xfrm>
          <a:prstGeom prst="rect">
            <a:avLst/>
          </a:prstGeom>
          <a:noFill/>
          <a:ln/>
        </p:spPr>
        <p:txBody>
          <a:bodyPr wrap="square" lIns="0" tIns="0" rIns="0" bIns="0" rtlCol="0" anchor="ctr"/>
          <a:lstStyle/>
          <a:p>
            <a:pPr indent="0" marL="0">
              <a:buNone/>
            </a:pPr>
            <a:r>
              <a:rPr lang="en-US" sz="1600" dirty="0">
                <a:solidFill>
                  <a:srgbClr val="5C6B5C"/>
                </a:solidFill>
                <a:latin typeface="Calibri" pitchFamily="34" charset="0"/>
                <a:ea typeface="Calibri" pitchFamily="34" charset="-122"/>
                <a:cs typeface="Calibri" pitchFamily="34" charset="-120"/>
              </a:rPr>
              <a:t>Buy one unit of all 36 items. What does the basket cost at each store?</a:t>
            </a:r>
            <a:endParaRPr lang="en-US" sz="1600" dirty="0"/>
          </a:p>
        </p:txBody>
      </p:sp>
      <p:graphicFrame>
        <p:nvGraphicFramePr>
          <p:cNvPr id="4" name="Chart 0" descr=""/>
          <p:cNvGraphicFramePr/>
          <p:nvPr/>
        </p:nvGraphicFramePr>
        <p:xfrm>
          <a:off x="548640" y="173736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737360"/>
            <a:ext cx="3931920" cy="4206240"/>
          </a:xfrm>
          <a:prstGeom prst="roundRect">
            <a:avLst>
              <a:gd name="adj" fmla="val 3488"/>
            </a:avLst>
          </a:prstGeom>
          <a:solidFill>
            <a:srgbClr val="EEF4E8"/>
          </a:solidFill>
          <a:ln w="12700">
            <a:solidFill>
              <a:srgbClr val="EEF4E8"/>
            </a:solidFill>
            <a:prstDash val="solid"/>
          </a:ln>
        </p:spPr>
      </p:sp>
      <p:sp>
        <p:nvSpPr>
          <p:cNvPr id="6" name="Shape 3"/>
          <p:cNvSpPr/>
          <p:nvPr/>
        </p:nvSpPr>
        <p:spPr>
          <a:xfrm>
            <a:off x="8001000" y="2011680"/>
            <a:ext cx="822960" cy="822960"/>
          </a:xfrm>
          <a:prstGeom prst="ellipse">
            <a:avLst/>
          </a:prstGeom>
          <a:solidFill>
            <a:srgbClr val="2C5F2D"/>
          </a:solidFill>
          <a:ln w="12700">
            <a:solidFill>
              <a:srgbClr val="2C5F2D"/>
            </a:solidFill>
            <a:prstDash val="solid"/>
          </a:ln>
        </p:spPr>
      </p:sp>
      <p:pic>
        <p:nvPicPr>
          <p:cNvPr id="7" name="Image 0" descr="preencoded.png">    </p:cNvPr>
          <p:cNvPicPr>
            <a:picLocks noChangeAspect="1"/>
          </p:cNvPicPr>
          <p:nvPr/>
        </p:nvPicPr>
        <p:blipFill>
          <a:blip r:embed="rId2"/>
          <a:stretch>
            <a:fillRect/>
          </a:stretch>
        </p:blipFill>
        <p:spPr>
          <a:xfrm>
            <a:off x="8206740" y="2217420"/>
            <a:ext cx="411480" cy="411480"/>
          </a:xfrm>
          <a:prstGeom prst="rect">
            <a:avLst/>
          </a:prstGeom>
        </p:spPr>
      </p:pic>
      <p:sp>
        <p:nvSpPr>
          <p:cNvPr id="8" name="Text 4"/>
          <p:cNvSpPr txBox="1"/>
          <p:nvPr/>
        </p:nvSpPr>
        <p:spPr>
          <a:xfrm>
            <a:off x="8001000" y="2971800"/>
            <a:ext cx="3383280" cy="548640"/>
          </a:xfrm>
          <a:prstGeom prst="rect">
            <a:avLst/>
          </a:prstGeom>
          <a:noFill/>
          <a:ln/>
        </p:spPr>
        <p:txBody>
          <a:bodyPr wrap="square" lIns="0" tIns="0" rIns="0" bIns="0" rtlCol="0" anchor="ctr"/>
          <a:lstStyle/>
          <a:p>
            <a:pPr indent="0" marL="0">
              <a:buNone/>
            </a:pPr>
            <a:r>
              <a:rPr lang="en-US" sz="2600" b="1" dirty="0">
                <a:solidFill>
                  <a:srgbClr val="EB6834"/>
                </a:solidFill>
                <a:latin typeface="Calibri" pitchFamily="34" charset="0"/>
                <a:ea typeface="Calibri" pitchFamily="34" charset="-122"/>
                <a:cs typeface="Calibri" pitchFamily="34" charset="-120"/>
              </a:rPr>
              <a:t>BBD 71.87 less</a:t>
            </a:r>
            <a:endParaRPr lang="en-US" sz="2600" dirty="0"/>
          </a:p>
        </p:txBody>
      </p:sp>
      <p:sp>
        <p:nvSpPr>
          <p:cNvPr id="9" name="Text 5"/>
          <p:cNvSpPr txBox="1"/>
          <p:nvPr/>
        </p:nvSpPr>
        <p:spPr>
          <a:xfrm>
            <a:off x="8001000" y="3474720"/>
            <a:ext cx="3383280" cy="365760"/>
          </a:xfrm>
          <a:prstGeom prst="rect">
            <a:avLst/>
          </a:prstGeom>
          <a:noFill/>
          <a:ln/>
        </p:spPr>
        <p:txBody>
          <a:bodyPr wrap="square" lIns="0" tIns="0" rIns="0" bIns="0" rtlCol="0" anchor="ctr"/>
          <a:lstStyle/>
          <a:p>
            <a:pPr indent="0" marL="0">
              <a:buNone/>
            </a:pPr>
            <a:r>
              <a:rPr lang="en-US" sz="1400" dirty="0">
                <a:solidFill>
                  <a:srgbClr val="5C6B5C"/>
                </a:solidFill>
                <a:latin typeface="Calibri" pitchFamily="34" charset="0"/>
                <a:ea typeface="Calibri" pitchFamily="34" charset="-122"/>
                <a:cs typeface="Calibri" pitchFamily="34" charset="-120"/>
              </a:rPr>
              <a:t>than Supermarket A (−19%)</a:t>
            </a:r>
            <a:endParaRPr lang="en-US" sz="1400" dirty="0"/>
          </a:p>
        </p:txBody>
      </p:sp>
      <p:sp>
        <p:nvSpPr>
          <p:cNvPr id="10" name="Text 6"/>
          <p:cNvSpPr txBox="1"/>
          <p:nvPr/>
        </p:nvSpPr>
        <p:spPr>
          <a:xfrm>
            <a:off x="8001000" y="4023360"/>
            <a:ext cx="3383280" cy="548640"/>
          </a:xfrm>
          <a:prstGeom prst="rect">
            <a:avLst/>
          </a:prstGeom>
          <a:noFill/>
          <a:ln/>
        </p:spPr>
        <p:txBody>
          <a:bodyPr wrap="square" lIns="0" tIns="0" rIns="0" bIns="0" rtlCol="0" anchor="ctr"/>
          <a:lstStyle/>
          <a:p>
            <a:pPr indent="0" marL="0">
              <a:buNone/>
            </a:pPr>
            <a:r>
              <a:rPr lang="en-US" sz="2600" b="1" dirty="0">
                <a:solidFill>
                  <a:srgbClr val="4A6FA5"/>
                </a:solidFill>
                <a:latin typeface="Calibri" pitchFamily="34" charset="0"/>
                <a:ea typeface="Calibri" pitchFamily="34" charset="-122"/>
                <a:cs typeface="Calibri" pitchFamily="34" charset="-120"/>
              </a:rPr>
              <a:t>BBD 123.72 less</a:t>
            </a:r>
            <a:endParaRPr lang="en-US" sz="2600" dirty="0"/>
          </a:p>
        </p:txBody>
      </p:sp>
      <p:sp>
        <p:nvSpPr>
          <p:cNvPr id="11" name="Text 7"/>
          <p:cNvSpPr txBox="1"/>
          <p:nvPr/>
        </p:nvSpPr>
        <p:spPr>
          <a:xfrm>
            <a:off x="8001000" y="4526280"/>
            <a:ext cx="3383280" cy="365760"/>
          </a:xfrm>
          <a:prstGeom prst="rect">
            <a:avLst/>
          </a:prstGeom>
          <a:noFill/>
          <a:ln/>
        </p:spPr>
        <p:txBody>
          <a:bodyPr wrap="square" lIns="0" tIns="0" rIns="0" bIns="0" rtlCol="0" anchor="ctr"/>
          <a:lstStyle/>
          <a:p>
            <a:pPr indent="0" marL="0">
              <a:buNone/>
            </a:pPr>
            <a:r>
              <a:rPr lang="en-US" sz="1400" dirty="0">
                <a:solidFill>
                  <a:srgbClr val="5C6B5C"/>
                </a:solidFill>
                <a:latin typeface="Calibri" pitchFamily="34" charset="0"/>
                <a:ea typeface="Calibri" pitchFamily="34" charset="-122"/>
                <a:cs typeface="Calibri" pitchFamily="34" charset="-120"/>
              </a:rPr>
              <a:t>than Supermarket B (−29%)</a:t>
            </a:r>
            <a:endParaRPr lang="en-US" sz="1400" dirty="0"/>
          </a:p>
        </p:txBody>
      </p:sp>
      <p:sp>
        <p:nvSpPr>
          <p:cNvPr id="12" name="Text 8"/>
          <p:cNvSpPr txBox="1"/>
          <p:nvPr/>
        </p:nvSpPr>
        <p:spPr>
          <a:xfrm>
            <a:off x="8001000" y="5120640"/>
            <a:ext cx="3383280" cy="640080"/>
          </a:xfrm>
          <a:prstGeom prst="rect">
            <a:avLst/>
          </a:prstGeom>
          <a:noFill/>
          <a:ln/>
        </p:spPr>
        <p:txBody>
          <a:bodyPr wrap="square" lIns="0" tIns="0" rIns="0" bIns="0" rtlCol="0" anchor="ctr"/>
          <a:lstStyle/>
          <a:p>
            <a:pPr indent="0" marL="0">
              <a:buNone/>
            </a:pPr>
            <a:r>
              <a:rPr lang="en-US" sz="1100" i="1" dirty="0">
                <a:solidFill>
                  <a:srgbClr val="5C6B5C"/>
                </a:solidFill>
                <a:latin typeface="Calibri" pitchFamily="34" charset="0"/>
                <a:ea typeface="Calibri" pitchFamily="34" charset="-122"/>
                <a:cs typeface="Calibri" pitchFamily="34" charset="-120"/>
              </a:rPr>
              <a:t>Indicative only: one unit of each item, not a real weekly shop.</a:t>
            </a:r>
            <a:endParaRPr lang="en-US" sz="1100" dirty="0"/>
          </a:p>
        </p:txBody>
      </p:sp>
      <p:sp>
        <p:nvSpPr>
          <p:cNvPr id="13" name="Text 9"/>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900" dirty="0">
                <a:solidFill>
                  <a:srgbClr val="9AA79A"/>
                </a:solidFill>
                <a:latin typeface="Calibri" pitchFamily="34" charset="0"/>
                <a:ea typeface="Calibri" pitchFamily="34" charset="-122"/>
                <a:cs typeface="Calibri" pitchFamily="34" charset="-120"/>
              </a:rPr>
              <a:t>Food First vs two Barbados supermarkets  |  Heart &amp; Stroke Foundation of Barbados  |  prices recorded August 2026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822960"/>
          </a:xfrm>
          <a:prstGeom prst="rect">
            <a:avLst/>
          </a:prstGeom>
          <a:noFill/>
          <a:ln/>
        </p:spPr>
        <p:txBody>
          <a:bodyPr wrap="square" lIns="0" tIns="0" rIns="0" bIns="0" rtlCol="0" anchor="ctr"/>
          <a:lstStyle/>
          <a:p>
            <a:pPr indent="0" marL="0">
              <a:buNone/>
            </a:pPr>
            <a:r>
              <a:rPr lang="en-US" sz="3600" b="1" dirty="0">
                <a:solidFill>
                  <a:srgbClr val="2C5F2D"/>
                </a:solidFill>
                <a:latin typeface="Calibri" pitchFamily="34" charset="0"/>
                <a:ea typeface="Calibri" pitchFamily="34" charset="-122"/>
                <a:cs typeface="Calibri" pitchFamily="34" charset="-120"/>
              </a:rPr>
              <a:t>What this means for HSFB</a:t>
            </a:r>
            <a:endParaRPr lang="en-US" sz="3600" dirty="0"/>
          </a:p>
        </p:txBody>
      </p:sp>
      <p:sp>
        <p:nvSpPr>
          <p:cNvPr id="3" name="Text 1"/>
          <p:cNvSpPr txBox="1"/>
          <p:nvPr/>
        </p:nvSpPr>
        <p:spPr>
          <a:xfrm>
            <a:off x="548640" y="1188720"/>
            <a:ext cx="11091672" cy="457200"/>
          </a:xfrm>
          <a:prstGeom prst="rect">
            <a:avLst/>
          </a:prstGeom>
          <a:noFill/>
          <a:ln/>
        </p:spPr>
        <p:txBody>
          <a:bodyPr wrap="square" lIns="0" tIns="0" rIns="0" bIns="0" rtlCol="0" anchor="ctr"/>
          <a:lstStyle/>
          <a:p>
            <a:pPr indent="0" marL="0">
              <a:buNone/>
            </a:pPr>
            <a:r>
              <a:rPr lang="en-US" sz="1600" dirty="0">
                <a:solidFill>
                  <a:srgbClr val="5C6B5C"/>
                </a:solidFill>
                <a:latin typeface="Calibri" pitchFamily="34" charset="0"/>
                <a:ea typeface="Calibri" pitchFamily="34" charset="-122"/>
                <a:cs typeface="Calibri" pitchFamily="34" charset="-120"/>
              </a:rPr>
              <a:t>Healthier eating can be made affordable, and here is a worked example</a:t>
            </a:r>
            <a:endParaRPr lang="en-US" sz="1600" dirty="0"/>
          </a:p>
        </p:txBody>
      </p:sp>
      <p:sp>
        <p:nvSpPr>
          <p:cNvPr id="4" name="Shape 2"/>
          <p:cNvSpPr/>
          <p:nvPr/>
        </p:nvSpPr>
        <p:spPr>
          <a:xfrm>
            <a:off x="548640" y="1828800"/>
            <a:ext cx="3520440" cy="3931920"/>
          </a:xfrm>
          <a:prstGeom prst="roundRect">
            <a:avLst>
              <a:gd name="adj" fmla="val 3896"/>
            </a:avLst>
          </a:prstGeom>
          <a:solidFill>
            <a:srgbClr val="EEF4E8"/>
          </a:solidFill>
          <a:ln w="12700">
            <a:solidFill>
              <a:srgbClr val="EEF4E8"/>
            </a:solidFill>
            <a:prstDash val="solid"/>
          </a:ln>
        </p:spPr>
      </p:sp>
      <p:sp>
        <p:nvSpPr>
          <p:cNvPr id="5" name="Shape 3"/>
          <p:cNvSpPr/>
          <p:nvPr/>
        </p:nvSpPr>
        <p:spPr>
          <a:xfrm>
            <a:off x="868680" y="2103120"/>
            <a:ext cx="822960" cy="822960"/>
          </a:xfrm>
          <a:prstGeom prst="ellipse">
            <a:avLst/>
          </a:prstGeom>
          <a:solidFill>
            <a:srgbClr val="2C5F2D"/>
          </a:solidFill>
          <a:ln w="12700">
            <a:solidFill>
              <a:srgbClr val="2C5F2D"/>
            </a:solidFill>
            <a:prstDash val="solid"/>
          </a:ln>
        </p:spPr>
      </p:sp>
      <p:pic>
        <p:nvPicPr>
          <p:cNvPr id="6" name="Image 0" descr="preencoded.png">    </p:cNvPr>
          <p:cNvPicPr>
            <a:picLocks noChangeAspect="1"/>
          </p:cNvPicPr>
          <p:nvPr/>
        </p:nvPicPr>
        <p:blipFill>
          <a:blip r:embed="rId1"/>
          <a:stretch>
            <a:fillRect/>
          </a:stretch>
        </p:blipFill>
        <p:spPr>
          <a:xfrm>
            <a:off x="1074420" y="2308860"/>
            <a:ext cx="411480" cy="411480"/>
          </a:xfrm>
          <a:prstGeom prst="rect">
            <a:avLst/>
          </a:prstGeom>
        </p:spPr>
      </p:pic>
      <p:sp>
        <p:nvSpPr>
          <p:cNvPr id="7" name="Text 4"/>
          <p:cNvSpPr txBox="1"/>
          <p:nvPr/>
        </p:nvSpPr>
        <p:spPr>
          <a:xfrm>
            <a:off x="868680" y="3063240"/>
            <a:ext cx="2926080" cy="731520"/>
          </a:xfrm>
          <a:prstGeom prst="rect">
            <a:avLst/>
          </a:prstGeom>
          <a:noFill/>
          <a:ln/>
        </p:spPr>
        <p:txBody>
          <a:bodyPr wrap="square" lIns="0" tIns="0" rIns="0" bIns="0" rtlCol="0" anchor="t"/>
          <a:lstStyle/>
          <a:p>
            <a:pPr indent="0" marL="0">
              <a:buNone/>
            </a:pPr>
            <a:r>
              <a:rPr lang="en-US" sz="1800" b="1" dirty="0">
                <a:solidFill>
                  <a:srgbClr val="2C5F2D"/>
                </a:solidFill>
                <a:latin typeface="Calibri" pitchFamily="34" charset="0"/>
                <a:ea typeface="Calibri" pitchFamily="34" charset="-122"/>
                <a:cs typeface="Calibri" pitchFamily="34" charset="-120"/>
              </a:rPr>
              <a:t>The right foods are the cheapest</a:t>
            </a:r>
            <a:endParaRPr lang="en-US" sz="1800" dirty="0"/>
          </a:p>
        </p:txBody>
      </p:sp>
      <p:sp>
        <p:nvSpPr>
          <p:cNvPr id="8" name="Text 5"/>
          <p:cNvSpPr txBox="1"/>
          <p:nvPr/>
        </p:nvSpPr>
        <p:spPr>
          <a:xfrm>
            <a:off x="868680" y="3840480"/>
            <a:ext cx="2926080" cy="1828800"/>
          </a:xfrm>
          <a:prstGeom prst="rect">
            <a:avLst/>
          </a:prstGeom>
          <a:noFill/>
          <a:ln/>
        </p:spPr>
        <p:txBody>
          <a:bodyPr wrap="square" lIns="0" tIns="0" rIns="0" bIns="0" rtlCol="0" anchor="t"/>
          <a:lstStyle/>
          <a:p>
            <a:pPr indent="0" marL="0">
              <a:buNone/>
            </a:pPr>
            <a:r>
              <a:rPr lang="en-US" sz="1400" dirty="0">
                <a:solidFill>
                  <a:srgbClr val="1F2A1F"/>
                </a:solidFill>
                <a:latin typeface="Calibri" pitchFamily="34" charset="0"/>
                <a:ea typeface="Calibri" pitchFamily="34" charset="-122"/>
                <a:cs typeface="Calibri" pitchFamily="34" charset="-120"/>
              </a:rPr>
              <a:t>Cabbage, carrots, pumpkin, onions, zucchini, lettuce and milk: the whole foods HSFB promotes are exactly where Food First's saving is largest.</a:t>
            </a:r>
            <a:endParaRPr lang="en-US" sz="1400" dirty="0"/>
          </a:p>
        </p:txBody>
      </p:sp>
      <p:sp>
        <p:nvSpPr>
          <p:cNvPr id="9" name="Shape 6"/>
          <p:cNvSpPr/>
          <p:nvPr/>
        </p:nvSpPr>
        <p:spPr>
          <a:xfrm>
            <a:off x="4297680" y="1828800"/>
            <a:ext cx="3520440" cy="3931920"/>
          </a:xfrm>
          <a:prstGeom prst="roundRect">
            <a:avLst>
              <a:gd name="adj" fmla="val 3896"/>
            </a:avLst>
          </a:prstGeom>
          <a:solidFill>
            <a:srgbClr val="EEF4E8"/>
          </a:solidFill>
          <a:ln w="12700">
            <a:solidFill>
              <a:srgbClr val="EEF4E8"/>
            </a:solidFill>
            <a:prstDash val="solid"/>
          </a:ln>
        </p:spPr>
      </p:sp>
      <p:sp>
        <p:nvSpPr>
          <p:cNvPr id="10" name="Shape 7"/>
          <p:cNvSpPr/>
          <p:nvPr/>
        </p:nvSpPr>
        <p:spPr>
          <a:xfrm>
            <a:off x="4617720" y="2103120"/>
            <a:ext cx="822960" cy="822960"/>
          </a:xfrm>
          <a:prstGeom prst="ellipse">
            <a:avLst/>
          </a:prstGeom>
          <a:solidFill>
            <a:srgbClr val="2C5F2D"/>
          </a:solidFill>
          <a:ln w="12700">
            <a:solidFill>
              <a:srgbClr val="2C5F2D"/>
            </a:solidFill>
            <a:prstDash val="solid"/>
          </a:ln>
        </p:spPr>
      </p:sp>
      <p:pic>
        <p:nvPicPr>
          <p:cNvPr id="11" name="Image 1" descr="preencoded.png">    </p:cNvPr>
          <p:cNvPicPr>
            <a:picLocks noChangeAspect="1"/>
          </p:cNvPicPr>
          <p:nvPr/>
        </p:nvPicPr>
        <p:blipFill>
          <a:blip r:embed="rId2"/>
          <a:stretch>
            <a:fillRect/>
          </a:stretch>
        </p:blipFill>
        <p:spPr>
          <a:xfrm>
            <a:off x="4823460" y="2308860"/>
            <a:ext cx="411480" cy="411480"/>
          </a:xfrm>
          <a:prstGeom prst="rect">
            <a:avLst/>
          </a:prstGeom>
        </p:spPr>
      </p:pic>
      <p:sp>
        <p:nvSpPr>
          <p:cNvPr id="12" name="Text 8"/>
          <p:cNvSpPr txBox="1"/>
          <p:nvPr/>
        </p:nvSpPr>
        <p:spPr>
          <a:xfrm>
            <a:off x="4617720" y="3063240"/>
            <a:ext cx="2926080" cy="731520"/>
          </a:xfrm>
          <a:prstGeom prst="rect">
            <a:avLst/>
          </a:prstGeom>
          <a:noFill/>
          <a:ln/>
        </p:spPr>
        <p:txBody>
          <a:bodyPr wrap="square" lIns="0" tIns="0" rIns="0" bIns="0" rtlCol="0" anchor="t"/>
          <a:lstStyle/>
          <a:p>
            <a:pPr indent="0" marL="0">
              <a:buNone/>
            </a:pPr>
            <a:r>
              <a:rPr lang="en-US" sz="1800" b="1" dirty="0">
                <a:solidFill>
                  <a:srgbClr val="2C5F2D"/>
                </a:solidFill>
                <a:latin typeface="Calibri" pitchFamily="34" charset="0"/>
                <a:ea typeface="Calibri" pitchFamily="34" charset="-122"/>
                <a:cs typeface="Calibri" pitchFamily="34" charset="-120"/>
              </a:rPr>
              <a:t>A reply to “it's too expensive”</a:t>
            </a:r>
            <a:endParaRPr lang="en-US" sz="1800" dirty="0"/>
          </a:p>
        </p:txBody>
      </p:sp>
      <p:sp>
        <p:nvSpPr>
          <p:cNvPr id="13" name="Text 9"/>
          <p:cNvSpPr txBox="1"/>
          <p:nvPr/>
        </p:nvSpPr>
        <p:spPr>
          <a:xfrm>
            <a:off x="4617720" y="3840480"/>
            <a:ext cx="2926080" cy="1828800"/>
          </a:xfrm>
          <a:prstGeom prst="rect">
            <a:avLst/>
          </a:prstGeom>
          <a:noFill/>
          <a:ln/>
        </p:spPr>
        <p:txBody>
          <a:bodyPr wrap="square" lIns="0" tIns="0" rIns="0" bIns="0" rtlCol="0" anchor="t"/>
          <a:lstStyle/>
          <a:p>
            <a:pPr indent="0" marL="0">
              <a:buNone/>
            </a:pPr>
            <a:r>
              <a:rPr lang="en-US" sz="1400" dirty="0">
                <a:solidFill>
                  <a:srgbClr val="1F2A1F"/>
                </a:solidFill>
                <a:latin typeface="Calibri" pitchFamily="34" charset="0"/>
                <a:ea typeface="Calibri" pitchFamily="34" charset="-122"/>
                <a:cs typeface="Calibri" pitchFamily="34" charset="-120"/>
              </a:rPr>
              <a:t>On this evidence price need not be the binding barrier. The typical whole-food item was about a quarter cheaper through the direct-import channel.</a:t>
            </a:r>
            <a:endParaRPr lang="en-US" sz="1400" dirty="0"/>
          </a:p>
        </p:txBody>
      </p:sp>
      <p:sp>
        <p:nvSpPr>
          <p:cNvPr id="14" name="Shape 10"/>
          <p:cNvSpPr/>
          <p:nvPr/>
        </p:nvSpPr>
        <p:spPr>
          <a:xfrm>
            <a:off x="8046720" y="1828800"/>
            <a:ext cx="3520440" cy="3931920"/>
          </a:xfrm>
          <a:prstGeom prst="roundRect">
            <a:avLst>
              <a:gd name="adj" fmla="val 3896"/>
            </a:avLst>
          </a:prstGeom>
          <a:solidFill>
            <a:srgbClr val="EEF4E8"/>
          </a:solidFill>
          <a:ln w="12700">
            <a:solidFill>
              <a:srgbClr val="EEF4E8"/>
            </a:solidFill>
            <a:prstDash val="solid"/>
          </a:ln>
        </p:spPr>
      </p:sp>
      <p:sp>
        <p:nvSpPr>
          <p:cNvPr id="15" name="Shape 11"/>
          <p:cNvSpPr/>
          <p:nvPr/>
        </p:nvSpPr>
        <p:spPr>
          <a:xfrm>
            <a:off x="8366760" y="2103120"/>
            <a:ext cx="822960" cy="822960"/>
          </a:xfrm>
          <a:prstGeom prst="ellipse">
            <a:avLst/>
          </a:prstGeom>
          <a:solidFill>
            <a:srgbClr val="2C5F2D"/>
          </a:solidFill>
          <a:ln w="12700">
            <a:solidFill>
              <a:srgbClr val="2C5F2D"/>
            </a:solidFill>
            <a:prstDash val="solid"/>
          </a:ln>
        </p:spPr>
      </p:sp>
      <p:pic>
        <p:nvPicPr>
          <p:cNvPr id="16" name="Image 2" descr="preencoded.png">    </p:cNvPr>
          <p:cNvPicPr>
            <a:picLocks noChangeAspect="1"/>
          </p:cNvPicPr>
          <p:nvPr/>
        </p:nvPicPr>
        <p:blipFill>
          <a:blip r:embed="rId3"/>
          <a:stretch>
            <a:fillRect/>
          </a:stretch>
        </p:blipFill>
        <p:spPr>
          <a:xfrm>
            <a:off x="8572500" y="2308860"/>
            <a:ext cx="411480" cy="411480"/>
          </a:xfrm>
          <a:prstGeom prst="rect">
            <a:avLst/>
          </a:prstGeom>
        </p:spPr>
      </p:pic>
      <p:sp>
        <p:nvSpPr>
          <p:cNvPr id="17" name="Text 12"/>
          <p:cNvSpPr txBox="1"/>
          <p:nvPr/>
        </p:nvSpPr>
        <p:spPr>
          <a:xfrm>
            <a:off x="8366760" y="3063240"/>
            <a:ext cx="2926080" cy="731520"/>
          </a:xfrm>
          <a:prstGeom prst="rect">
            <a:avLst/>
          </a:prstGeom>
          <a:noFill/>
          <a:ln/>
        </p:spPr>
        <p:txBody>
          <a:bodyPr wrap="square" lIns="0" tIns="0" rIns="0" bIns="0" rtlCol="0" anchor="t"/>
          <a:lstStyle/>
          <a:p>
            <a:pPr indent="0" marL="0">
              <a:buNone/>
            </a:pPr>
            <a:r>
              <a:rPr lang="en-US" sz="1800" b="1" dirty="0">
                <a:solidFill>
                  <a:srgbClr val="2C5F2D"/>
                </a:solidFill>
                <a:latin typeface="Calibri" pitchFamily="34" charset="0"/>
                <a:ea typeface="Calibri" pitchFamily="34" charset="-122"/>
                <a:cs typeface="Calibri" pitchFamily="34" charset="-120"/>
              </a:rPr>
              <a:t>A concrete story to tell</a:t>
            </a:r>
            <a:endParaRPr lang="en-US" sz="1800" dirty="0"/>
          </a:p>
        </p:txBody>
      </p:sp>
      <p:sp>
        <p:nvSpPr>
          <p:cNvPr id="18" name="Text 13"/>
          <p:cNvSpPr txBox="1"/>
          <p:nvPr/>
        </p:nvSpPr>
        <p:spPr>
          <a:xfrm>
            <a:off x="8366760" y="3840480"/>
            <a:ext cx="2926080" cy="1828800"/>
          </a:xfrm>
          <a:prstGeom prst="rect">
            <a:avLst/>
          </a:prstGeom>
          <a:noFill/>
          <a:ln/>
        </p:spPr>
        <p:txBody>
          <a:bodyPr wrap="square" lIns="0" tIns="0" rIns="0" bIns="0" rtlCol="0" anchor="t"/>
          <a:lstStyle/>
          <a:p>
            <a:pPr indent="0" marL="0">
              <a:buNone/>
            </a:pPr>
            <a:r>
              <a:rPr lang="en-US" sz="1400" dirty="0">
                <a:solidFill>
                  <a:srgbClr val="1F2A1F"/>
                </a:solidFill>
                <a:latin typeface="Calibri" pitchFamily="34" charset="0"/>
                <a:ea typeface="Calibri" pitchFamily="34" charset="-122"/>
                <a:cs typeface="Calibri" pitchFamily="34" charset="-120"/>
              </a:rPr>
              <a:t>Parents, schools and policymakers respond to real numbers. Thirty-six items, three stores, one clear pattern.</a:t>
            </a:r>
            <a:endParaRPr lang="en-US" sz="1400" dirty="0"/>
          </a:p>
        </p:txBody>
      </p:sp>
      <p:sp>
        <p:nvSpPr>
          <p:cNvPr id="19" name="Text 14"/>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900" dirty="0">
                <a:solidFill>
                  <a:srgbClr val="9AA79A"/>
                </a:solidFill>
                <a:latin typeface="Calibri" pitchFamily="34" charset="0"/>
                <a:ea typeface="Calibri" pitchFamily="34" charset="-122"/>
                <a:cs typeface="Calibri" pitchFamily="34" charset="-120"/>
              </a:rPr>
              <a:t>Food First vs two Barbados supermarkets  |  Heart &amp; Stroke Foundation of Barbados  |  prices recorded August 2026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822960"/>
          </a:xfrm>
          <a:prstGeom prst="rect">
            <a:avLst/>
          </a:prstGeom>
          <a:noFill/>
          <a:ln/>
        </p:spPr>
        <p:txBody>
          <a:bodyPr wrap="square" lIns="0" tIns="0" rIns="0" bIns="0" rtlCol="0" anchor="ctr"/>
          <a:lstStyle/>
          <a:p>
            <a:pPr indent="0" marL="0">
              <a:buNone/>
            </a:pPr>
            <a:r>
              <a:rPr lang="en-US" sz="3600" b="1" dirty="0">
                <a:solidFill>
                  <a:srgbClr val="2C5F2D"/>
                </a:solidFill>
                <a:latin typeface="Calibri" pitchFamily="34" charset="0"/>
                <a:ea typeface="Calibri" pitchFamily="34" charset="-122"/>
                <a:cs typeface="Calibri" pitchFamily="34" charset="-120"/>
              </a:rPr>
              <a:t>The fine print</a:t>
            </a:r>
            <a:endParaRPr lang="en-US" sz="3600" dirty="0"/>
          </a:p>
        </p:txBody>
      </p:sp>
      <p:sp>
        <p:nvSpPr>
          <p:cNvPr id="3" name="Text 1"/>
          <p:cNvSpPr txBox="1"/>
          <p:nvPr/>
        </p:nvSpPr>
        <p:spPr>
          <a:xfrm>
            <a:off x="548640" y="1188720"/>
            <a:ext cx="11091672" cy="457200"/>
          </a:xfrm>
          <a:prstGeom prst="rect">
            <a:avLst/>
          </a:prstGeom>
          <a:noFill/>
          <a:ln/>
        </p:spPr>
        <p:txBody>
          <a:bodyPr wrap="square" lIns="0" tIns="0" rIns="0" bIns="0" rtlCol="0" anchor="ctr"/>
          <a:lstStyle/>
          <a:p>
            <a:pPr indent="0" marL="0">
              <a:buNone/>
            </a:pPr>
            <a:r>
              <a:rPr lang="en-US" sz="1600" dirty="0">
                <a:solidFill>
                  <a:srgbClr val="5C6B5C"/>
                </a:solidFill>
                <a:latin typeface="Calibri" pitchFamily="34" charset="0"/>
                <a:ea typeface="Calibri" pitchFamily="34" charset="-122"/>
                <a:cs typeface="Calibri" pitchFamily="34" charset="-120"/>
              </a:rPr>
              <a:t>What this study can and cannot tell you</a:t>
            </a:r>
            <a:endParaRPr lang="en-US" sz="1600" dirty="0"/>
          </a:p>
        </p:txBody>
      </p:sp>
      <p:sp>
        <p:nvSpPr>
          <p:cNvPr id="4" name="Shape 2"/>
          <p:cNvSpPr/>
          <p:nvPr/>
        </p:nvSpPr>
        <p:spPr>
          <a:xfrm>
            <a:off x="548640" y="1828800"/>
            <a:ext cx="5394960" cy="1737360"/>
          </a:xfrm>
          <a:prstGeom prst="roundRect">
            <a:avLst>
              <a:gd name="adj" fmla="val 7895"/>
            </a:avLst>
          </a:prstGeom>
          <a:solidFill>
            <a:srgbClr val="EEF4E8"/>
          </a:solidFill>
          <a:ln w="12700">
            <a:solidFill>
              <a:srgbClr val="EEF4E8"/>
            </a:solidFill>
            <a:prstDash val="solid"/>
          </a:ln>
        </p:spPr>
      </p:sp>
      <p:sp>
        <p:nvSpPr>
          <p:cNvPr id="5" name="Shape 3"/>
          <p:cNvSpPr/>
          <p:nvPr/>
        </p:nvSpPr>
        <p:spPr>
          <a:xfrm>
            <a:off x="822960" y="2103120"/>
            <a:ext cx="640080" cy="640080"/>
          </a:xfrm>
          <a:prstGeom prst="ellipse">
            <a:avLst/>
          </a:prstGeom>
          <a:solidFill>
            <a:srgbClr val="F2C14E"/>
          </a:solidFill>
          <a:ln w="12700">
            <a:solidFill>
              <a:srgbClr val="F2C14E"/>
            </a:solidFill>
            <a:prstDash val="solid"/>
          </a:ln>
        </p:spPr>
      </p:sp>
      <p:pic>
        <p:nvPicPr>
          <p:cNvPr id="6" name="Image 0" descr="preencoded.png">    </p:cNvPr>
          <p:cNvPicPr>
            <a:picLocks noChangeAspect="1"/>
          </p:cNvPicPr>
          <p:nvPr/>
        </p:nvPicPr>
        <p:blipFill>
          <a:blip r:embed="rId1"/>
          <a:stretch>
            <a:fillRect/>
          </a:stretch>
        </p:blipFill>
        <p:spPr>
          <a:xfrm>
            <a:off x="982980" y="2263140"/>
            <a:ext cx="320040" cy="320040"/>
          </a:xfrm>
          <a:prstGeom prst="rect">
            <a:avLst/>
          </a:prstGeom>
        </p:spPr>
      </p:pic>
      <p:sp>
        <p:nvSpPr>
          <p:cNvPr id="7" name="Text 4"/>
          <p:cNvSpPr txBox="1"/>
          <p:nvPr/>
        </p:nvSpPr>
        <p:spPr>
          <a:xfrm>
            <a:off x="1645920" y="2057400"/>
            <a:ext cx="4023360" cy="457200"/>
          </a:xfrm>
          <a:prstGeom prst="rect">
            <a:avLst/>
          </a:prstGeom>
          <a:noFill/>
          <a:ln/>
        </p:spPr>
        <p:txBody>
          <a:bodyPr wrap="square" lIns="0" tIns="0" rIns="0" bIns="0" rtlCol="0" anchor="ctr"/>
          <a:lstStyle/>
          <a:p>
            <a:pPr indent="0" marL="0">
              <a:buNone/>
            </a:pPr>
            <a:r>
              <a:rPr lang="en-US" sz="1800" b="1" dirty="0">
                <a:solidFill>
                  <a:srgbClr val="1F2A1F"/>
                </a:solidFill>
                <a:latin typeface="Calibri" pitchFamily="34" charset="0"/>
                <a:ea typeface="Calibri" pitchFamily="34" charset="-122"/>
                <a:cs typeface="Calibri" pitchFamily="34" charset="-120"/>
              </a:rPr>
              <a:t>One snapshot</a:t>
            </a:r>
            <a:endParaRPr lang="en-US" sz="1800" dirty="0"/>
          </a:p>
        </p:txBody>
      </p:sp>
      <p:sp>
        <p:nvSpPr>
          <p:cNvPr id="8" name="Text 5"/>
          <p:cNvSpPr txBox="1"/>
          <p:nvPr/>
        </p:nvSpPr>
        <p:spPr>
          <a:xfrm>
            <a:off x="1645920" y="2560320"/>
            <a:ext cx="4023360" cy="914400"/>
          </a:xfrm>
          <a:prstGeom prst="rect">
            <a:avLst/>
          </a:prstGeom>
          <a:noFill/>
          <a:ln/>
        </p:spPr>
        <p:txBody>
          <a:bodyPr wrap="square" lIns="0" tIns="0" rIns="0" bIns="0" rtlCol="0" anchor="t"/>
          <a:lstStyle/>
          <a:p>
            <a:pPr indent="0" marL="0">
              <a:buNone/>
            </a:pPr>
            <a:r>
              <a:rPr lang="en-US" sz="1300" dirty="0">
                <a:solidFill>
                  <a:srgbClr val="5C6B5C"/>
                </a:solidFill>
                <a:latin typeface="Calibri" pitchFamily="34" charset="0"/>
                <a:ea typeface="Calibri" pitchFamily="34" charset="-122"/>
                <a:cs typeface="Calibri" pitchFamily="34" charset="-120"/>
              </a:rPr>
              <a:t>Prices from one visit per store in August 2026. Promotions and seasonal swings are not captured.</a:t>
            </a:r>
            <a:endParaRPr lang="en-US" sz="1300" dirty="0"/>
          </a:p>
        </p:txBody>
      </p:sp>
      <p:sp>
        <p:nvSpPr>
          <p:cNvPr id="9" name="Shape 6"/>
          <p:cNvSpPr/>
          <p:nvPr/>
        </p:nvSpPr>
        <p:spPr>
          <a:xfrm>
            <a:off x="6217920" y="1828800"/>
            <a:ext cx="5394960" cy="1737360"/>
          </a:xfrm>
          <a:prstGeom prst="roundRect">
            <a:avLst>
              <a:gd name="adj" fmla="val 7895"/>
            </a:avLst>
          </a:prstGeom>
          <a:solidFill>
            <a:srgbClr val="EEF4E8"/>
          </a:solidFill>
          <a:ln w="12700">
            <a:solidFill>
              <a:srgbClr val="EEF4E8"/>
            </a:solidFill>
            <a:prstDash val="solid"/>
          </a:ln>
        </p:spPr>
      </p:sp>
      <p:sp>
        <p:nvSpPr>
          <p:cNvPr id="10" name="Shape 7"/>
          <p:cNvSpPr/>
          <p:nvPr/>
        </p:nvSpPr>
        <p:spPr>
          <a:xfrm>
            <a:off x="6492240" y="2103120"/>
            <a:ext cx="640080" cy="640080"/>
          </a:xfrm>
          <a:prstGeom prst="ellipse">
            <a:avLst/>
          </a:prstGeom>
          <a:solidFill>
            <a:srgbClr val="F2C14E"/>
          </a:solidFill>
          <a:ln w="12700">
            <a:solidFill>
              <a:srgbClr val="F2C14E"/>
            </a:solidFill>
            <a:prstDash val="solid"/>
          </a:ln>
        </p:spPr>
      </p:sp>
      <p:pic>
        <p:nvPicPr>
          <p:cNvPr id="11" name="Image 1" descr="preencoded.png">    </p:cNvPr>
          <p:cNvPicPr>
            <a:picLocks noChangeAspect="1"/>
          </p:cNvPicPr>
          <p:nvPr/>
        </p:nvPicPr>
        <p:blipFill>
          <a:blip r:embed="rId2"/>
          <a:stretch>
            <a:fillRect/>
          </a:stretch>
        </p:blipFill>
        <p:spPr>
          <a:xfrm>
            <a:off x="6652260" y="2263140"/>
            <a:ext cx="320040" cy="320040"/>
          </a:xfrm>
          <a:prstGeom prst="rect">
            <a:avLst/>
          </a:prstGeom>
        </p:spPr>
      </p:pic>
      <p:sp>
        <p:nvSpPr>
          <p:cNvPr id="12" name="Text 8"/>
          <p:cNvSpPr txBox="1"/>
          <p:nvPr/>
        </p:nvSpPr>
        <p:spPr>
          <a:xfrm>
            <a:off x="7315200" y="2057400"/>
            <a:ext cx="4023360" cy="457200"/>
          </a:xfrm>
          <a:prstGeom prst="rect">
            <a:avLst/>
          </a:prstGeom>
          <a:noFill/>
          <a:ln/>
        </p:spPr>
        <p:txBody>
          <a:bodyPr wrap="square" lIns="0" tIns="0" rIns="0" bIns="0" rtlCol="0" anchor="ctr"/>
          <a:lstStyle/>
          <a:p>
            <a:pPr indent="0" marL="0">
              <a:buNone/>
            </a:pPr>
            <a:r>
              <a:rPr lang="en-US" sz="1800" b="1" dirty="0">
                <a:solidFill>
                  <a:srgbClr val="1F2A1F"/>
                </a:solidFill>
                <a:latin typeface="Calibri" pitchFamily="34" charset="0"/>
                <a:ea typeface="Calibri" pitchFamily="34" charset="-122"/>
                <a:cs typeface="Calibri" pitchFamily="34" charset="-120"/>
              </a:rPr>
              <a:t>36 of 95 items</a:t>
            </a:r>
            <a:endParaRPr lang="en-US" sz="1800" dirty="0"/>
          </a:p>
        </p:txBody>
      </p:sp>
      <p:sp>
        <p:nvSpPr>
          <p:cNvPr id="13" name="Text 9"/>
          <p:cNvSpPr txBox="1"/>
          <p:nvPr/>
        </p:nvSpPr>
        <p:spPr>
          <a:xfrm>
            <a:off x="7315200" y="2560320"/>
            <a:ext cx="4023360" cy="914400"/>
          </a:xfrm>
          <a:prstGeom prst="rect">
            <a:avLst/>
          </a:prstGeom>
          <a:noFill/>
          <a:ln/>
        </p:spPr>
        <p:txBody>
          <a:bodyPr wrap="square" lIns="0" tIns="0" rIns="0" bIns="0" rtlCol="0" anchor="t"/>
          <a:lstStyle/>
          <a:p>
            <a:pPr indent="0" marL="0">
              <a:buNone/>
            </a:pPr>
            <a:r>
              <a:rPr lang="en-US" sz="1300" dirty="0">
                <a:solidFill>
                  <a:srgbClr val="5C6B5C"/>
                </a:solidFill>
                <a:latin typeface="Calibri" pitchFamily="34" charset="0"/>
                <a:ea typeface="Calibri" pitchFamily="34" charset="-122"/>
                <a:cs typeface="Calibri" pitchFamily="34" charset="-120"/>
              </a:rPr>
              <a:t>Only items sold on an identical basis at all three stores. Berries, seasonings and sauces are missing.</a:t>
            </a:r>
            <a:endParaRPr lang="en-US" sz="1300" dirty="0"/>
          </a:p>
        </p:txBody>
      </p:sp>
      <p:sp>
        <p:nvSpPr>
          <p:cNvPr id="14" name="Shape 10"/>
          <p:cNvSpPr/>
          <p:nvPr/>
        </p:nvSpPr>
        <p:spPr>
          <a:xfrm>
            <a:off x="548640" y="3794760"/>
            <a:ext cx="5394960" cy="1737360"/>
          </a:xfrm>
          <a:prstGeom prst="roundRect">
            <a:avLst>
              <a:gd name="adj" fmla="val 7895"/>
            </a:avLst>
          </a:prstGeom>
          <a:solidFill>
            <a:srgbClr val="EEF4E8"/>
          </a:solidFill>
          <a:ln w="12700">
            <a:solidFill>
              <a:srgbClr val="EEF4E8"/>
            </a:solidFill>
            <a:prstDash val="solid"/>
          </a:ln>
        </p:spPr>
      </p:sp>
      <p:sp>
        <p:nvSpPr>
          <p:cNvPr id="15" name="Shape 11"/>
          <p:cNvSpPr/>
          <p:nvPr/>
        </p:nvSpPr>
        <p:spPr>
          <a:xfrm>
            <a:off x="822960" y="4069080"/>
            <a:ext cx="640080" cy="640080"/>
          </a:xfrm>
          <a:prstGeom prst="ellipse">
            <a:avLst/>
          </a:prstGeom>
          <a:solidFill>
            <a:srgbClr val="F2C14E"/>
          </a:solidFill>
          <a:ln w="12700">
            <a:solidFill>
              <a:srgbClr val="F2C14E"/>
            </a:solidFill>
            <a:prstDash val="solid"/>
          </a:ln>
        </p:spPr>
      </p:sp>
      <p:pic>
        <p:nvPicPr>
          <p:cNvPr id="16" name="Image 2" descr="preencoded.png">    </p:cNvPr>
          <p:cNvPicPr>
            <a:picLocks noChangeAspect="1"/>
          </p:cNvPicPr>
          <p:nvPr/>
        </p:nvPicPr>
        <p:blipFill>
          <a:blip r:embed="rId3"/>
          <a:stretch>
            <a:fillRect/>
          </a:stretch>
        </p:blipFill>
        <p:spPr>
          <a:xfrm>
            <a:off x="982980" y="4229100"/>
            <a:ext cx="320040" cy="320040"/>
          </a:xfrm>
          <a:prstGeom prst="rect">
            <a:avLst/>
          </a:prstGeom>
        </p:spPr>
      </p:pic>
      <p:sp>
        <p:nvSpPr>
          <p:cNvPr id="17" name="Text 12"/>
          <p:cNvSpPr txBox="1"/>
          <p:nvPr/>
        </p:nvSpPr>
        <p:spPr>
          <a:xfrm>
            <a:off x="1645920" y="4023360"/>
            <a:ext cx="4023360" cy="457200"/>
          </a:xfrm>
          <a:prstGeom prst="rect">
            <a:avLst/>
          </a:prstGeom>
          <a:noFill/>
          <a:ln/>
        </p:spPr>
        <p:txBody>
          <a:bodyPr wrap="square" lIns="0" tIns="0" rIns="0" bIns="0" rtlCol="0" anchor="ctr"/>
          <a:lstStyle/>
          <a:p>
            <a:pPr indent="0" marL="0">
              <a:buNone/>
            </a:pPr>
            <a:r>
              <a:rPr lang="en-US" sz="1800" b="1" dirty="0">
                <a:solidFill>
                  <a:srgbClr val="1F2A1F"/>
                </a:solidFill>
                <a:latin typeface="Calibri" pitchFamily="34" charset="0"/>
                <a:ea typeface="Calibri" pitchFamily="34" charset="-122"/>
                <a:cs typeface="Calibri" pitchFamily="34" charset="-120"/>
              </a:rPr>
              <a:t>Equal weighting</a:t>
            </a:r>
            <a:endParaRPr lang="en-US" sz="1800" dirty="0"/>
          </a:p>
        </p:txBody>
      </p:sp>
      <p:sp>
        <p:nvSpPr>
          <p:cNvPr id="18" name="Text 13"/>
          <p:cNvSpPr txBox="1"/>
          <p:nvPr/>
        </p:nvSpPr>
        <p:spPr>
          <a:xfrm>
            <a:off x="1645920" y="4526280"/>
            <a:ext cx="4023360" cy="914400"/>
          </a:xfrm>
          <a:prstGeom prst="rect">
            <a:avLst/>
          </a:prstGeom>
          <a:noFill/>
          <a:ln/>
        </p:spPr>
        <p:txBody>
          <a:bodyPr wrap="square" lIns="0" tIns="0" rIns="0" bIns="0" rtlCol="0" anchor="t"/>
          <a:lstStyle/>
          <a:p>
            <a:pPr indent="0" marL="0">
              <a:buNone/>
            </a:pPr>
            <a:r>
              <a:rPr lang="en-US" sz="1300" dirty="0">
                <a:solidFill>
                  <a:srgbClr val="5C6B5C"/>
                </a:solidFill>
                <a:latin typeface="Calibri" pitchFamily="34" charset="0"/>
                <a:ea typeface="Calibri" pitchFamily="34" charset="-122"/>
                <a:cs typeface="Calibri" pitchFamily="34" charset="-120"/>
              </a:rPr>
              <a:t>Every item counts the same. A real weekly basket would weight staples more heavily.</a:t>
            </a:r>
            <a:endParaRPr lang="en-US" sz="1300" dirty="0"/>
          </a:p>
        </p:txBody>
      </p:sp>
      <p:sp>
        <p:nvSpPr>
          <p:cNvPr id="19" name="Shape 14"/>
          <p:cNvSpPr/>
          <p:nvPr/>
        </p:nvSpPr>
        <p:spPr>
          <a:xfrm>
            <a:off x="6217920" y="3794760"/>
            <a:ext cx="5394960" cy="1737360"/>
          </a:xfrm>
          <a:prstGeom prst="roundRect">
            <a:avLst>
              <a:gd name="adj" fmla="val 7895"/>
            </a:avLst>
          </a:prstGeom>
          <a:solidFill>
            <a:srgbClr val="EEF4E8"/>
          </a:solidFill>
          <a:ln w="12700">
            <a:solidFill>
              <a:srgbClr val="EEF4E8"/>
            </a:solidFill>
            <a:prstDash val="solid"/>
          </a:ln>
        </p:spPr>
      </p:sp>
      <p:sp>
        <p:nvSpPr>
          <p:cNvPr id="20" name="Shape 15"/>
          <p:cNvSpPr/>
          <p:nvPr/>
        </p:nvSpPr>
        <p:spPr>
          <a:xfrm>
            <a:off x="6492240" y="4069080"/>
            <a:ext cx="640080" cy="640080"/>
          </a:xfrm>
          <a:prstGeom prst="ellipse">
            <a:avLst/>
          </a:prstGeom>
          <a:solidFill>
            <a:srgbClr val="F2C14E"/>
          </a:solidFill>
          <a:ln w="12700">
            <a:solidFill>
              <a:srgbClr val="F2C14E"/>
            </a:solidFill>
            <a:prstDash val="solid"/>
          </a:ln>
        </p:spPr>
      </p:sp>
      <p:pic>
        <p:nvPicPr>
          <p:cNvPr id="21" name="Image 3" descr="preencoded.png">    </p:cNvPr>
          <p:cNvPicPr>
            <a:picLocks noChangeAspect="1"/>
          </p:cNvPicPr>
          <p:nvPr/>
        </p:nvPicPr>
        <p:blipFill>
          <a:blip r:embed="rId4"/>
          <a:stretch>
            <a:fillRect/>
          </a:stretch>
        </p:blipFill>
        <p:spPr>
          <a:xfrm>
            <a:off x="6652260" y="4229100"/>
            <a:ext cx="320040" cy="320040"/>
          </a:xfrm>
          <a:prstGeom prst="rect">
            <a:avLst/>
          </a:prstGeom>
        </p:spPr>
      </p:pic>
      <p:sp>
        <p:nvSpPr>
          <p:cNvPr id="22" name="Text 16"/>
          <p:cNvSpPr txBox="1"/>
          <p:nvPr/>
        </p:nvSpPr>
        <p:spPr>
          <a:xfrm>
            <a:off x="7315200" y="4023360"/>
            <a:ext cx="4023360" cy="457200"/>
          </a:xfrm>
          <a:prstGeom prst="rect">
            <a:avLst/>
          </a:prstGeom>
          <a:noFill/>
          <a:ln/>
        </p:spPr>
        <p:txBody>
          <a:bodyPr wrap="square" lIns="0" tIns="0" rIns="0" bIns="0" rtlCol="0" anchor="ctr"/>
          <a:lstStyle/>
          <a:p>
            <a:pPr indent="0" marL="0">
              <a:buNone/>
            </a:pPr>
            <a:r>
              <a:rPr lang="en-US" sz="1800" b="1" dirty="0">
                <a:solidFill>
                  <a:srgbClr val="1F2A1F"/>
                </a:solidFill>
                <a:latin typeface="Calibri" pitchFamily="34" charset="0"/>
                <a:ea typeface="Calibri" pitchFamily="34" charset="-122"/>
                <a:cs typeface="Calibri" pitchFamily="34" charset="-120"/>
              </a:rPr>
              <a:t>Price only</a:t>
            </a:r>
            <a:endParaRPr lang="en-US" sz="1800" dirty="0"/>
          </a:p>
        </p:txBody>
      </p:sp>
      <p:sp>
        <p:nvSpPr>
          <p:cNvPr id="23" name="Text 17"/>
          <p:cNvSpPr txBox="1"/>
          <p:nvPr/>
        </p:nvSpPr>
        <p:spPr>
          <a:xfrm>
            <a:off x="7315200" y="4526280"/>
            <a:ext cx="4023360" cy="914400"/>
          </a:xfrm>
          <a:prstGeom prst="rect">
            <a:avLst/>
          </a:prstGeom>
          <a:noFill/>
          <a:ln/>
        </p:spPr>
        <p:txBody>
          <a:bodyPr wrap="square" lIns="0" tIns="0" rIns="0" bIns="0" rtlCol="0" anchor="t"/>
          <a:lstStyle/>
          <a:p>
            <a:pPr indent="0" marL="0">
              <a:buNone/>
            </a:pPr>
            <a:r>
              <a:rPr lang="en-US" sz="1300" dirty="0">
                <a:solidFill>
                  <a:srgbClr val="5C6B5C"/>
                </a:solidFill>
                <a:latin typeface="Calibri" pitchFamily="34" charset="0"/>
                <a:ea typeface="Calibri" pitchFamily="34" charset="-122"/>
                <a:cs typeface="Calibri" pitchFamily="34" charset="-120"/>
              </a:rPr>
              <a:t>Freshness, grade, origin and shelf life were not assessed.</a:t>
            </a:r>
            <a:endParaRPr lang="en-US" sz="1300" dirty="0"/>
          </a:p>
        </p:txBody>
      </p:sp>
      <p:sp>
        <p:nvSpPr>
          <p:cNvPr id="24" name="Text 18"/>
          <p:cNvSpPr txBox="1"/>
          <p:nvPr/>
        </p:nvSpPr>
        <p:spPr>
          <a:xfrm>
            <a:off x="548640" y="6446520"/>
            <a:ext cx="11091672" cy="274320"/>
          </a:xfrm>
          <a:prstGeom prst="rect">
            <a:avLst/>
          </a:prstGeom>
          <a:noFill/>
          <a:ln/>
        </p:spPr>
        <p:txBody>
          <a:bodyPr wrap="square" lIns="0" tIns="0" rIns="0" bIns="0" rtlCol="0" anchor="ctr"/>
          <a:lstStyle/>
          <a:p>
            <a:pPr indent="0" marL="0">
              <a:buNone/>
            </a:pPr>
            <a:r>
              <a:rPr lang="en-US" sz="900" dirty="0">
                <a:solidFill>
                  <a:srgbClr val="9AA79A"/>
                </a:solidFill>
                <a:latin typeface="Calibri" pitchFamily="34" charset="0"/>
                <a:ea typeface="Calibri" pitchFamily="34" charset="-122"/>
                <a:cs typeface="Calibri" pitchFamily="34" charset="-120"/>
              </a:rPr>
              <a:t>Food First vs two Barbados supermarkets  |  Heart &amp; Stroke Foundation of Barbados  |  prices recorded August 2026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C5F2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Where next?</a:t>
            </a:r>
            <a:endParaRPr lang="en-US" sz="3600" dirty="0"/>
          </a:p>
        </p:txBody>
      </p:sp>
      <p:sp>
        <p:nvSpPr>
          <p:cNvPr id="3" name="Shape 1"/>
          <p:cNvSpPr/>
          <p:nvPr/>
        </p:nvSpPr>
        <p:spPr>
          <a:xfrm>
            <a:off x="640080" y="1444752"/>
            <a:ext cx="548640" cy="548640"/>
          </a:xfrm>
          <a:prstGeom prst="ellipse">
            <a:avLst/>
          </a:prstGeom>
          <a:solidFill>
            <a:srgbClr val="F2C14E"/>
          </a:solidFill>
          <a:ln w="12700">
            <a:solidFill>
              <a:srgbClr val="F2C14E"/>
            </a:solidFill>
            <a:prstDash val="solid"/>
          </a:ln>
        </p:spPr>
      </p:sp>
      <p:sp>
        <p:nvSpPr>
          <p:cNvPr id="4" name="Text 2"/>
          <p:cNvSpPr txBox="1"/>
          <p:nvPr/>
        </p:nvSpPr>
        <p:spPr>
          <a:xfrm>
            <a:off x="640080" y="1444752"/>
            <a:ext cx="548640" cy="548640"/>
          </a:xfrm>
          <a:prstGeom prst="rect">
            <a:avLst/>
          </a:prstGeom>
          <a:noFill/>
          <a:ln/>
        </p:spPr>
        <p:txBody>
          <a:bodyPr wrap="square" lIns="0" tIns="0" rIns="0" bIns="0" rtlCol="0" anchor="ctr"/>
          <a:lstStyle/>
          <a:p>
            <a:pPr algn="ctr" indent="0" marL="0">
              <a:buNone/>
            </a:pPr>
            <a:r>
              <a:rPr lang="en-US" sz="1800" b="1" dirty="0">
                <a:solidFill>
                  <a:srgbClr val="2C5F2D"/>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417320" y="1371600"/>
            <a:ext cx="6035040" cy="7315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Repeat the survey two or three more times across the year to test whether the gap holds.</a:t>
            </a:r>
            <a:endParaRPr lang="en-US" sz="1700" dirty="0"/>
          </a:p>
        </p:txBody>
      </p:sp>
      <p:sp>
        <p:nvSpPr>
          <p:cNvPr id="6" name="Shape 4"/>
          <p:cNvSpPr/>
          <p:nvPr/>
        </p:nvSpPr>
        <p:spPr>
          <a:xfrm>
            <a:off x="640080" y="2404872"/>
            <a:ext cx="548640" cy="548640"/>
          </a:xfrm>
          <a:prstGeom prst="ellipse">
            <a:avLst/>
          </a:prstGeom>
          <a:solidFill>
            <a:srgbClr val="F2C14E"/>
          </a:solidFill>
          <a:ln w="12700">
            <a:solidFill>
              <a:srgbClr val="F2C14E"/>
            </a:solidFill>
            <a:prstDash val="solid"/>
          </a:ln>
        </p:spPr>
      </p:sp>
      <p:sp>
        <p:nvSpPr>
          <p:cNvPr id="7" name="Text 5"/>
          <p:cNvSpPr txBox="1"/>
          <p:nvPr/>
        </p:nvSpPr>
        <p:spPr>
          <a:xfrm>
            <a:off x="640080" y="2404872"/>
            <a:ext cx="548640" cy="548640"/>
          </a:xfrm>
          <a:prstGeom prst="rect">
            <a:avLst/>
          </a:prstGeom>
          <a:noFill/>
          <a:ln/>
        </p:spPr>
        <p:txBody>
          <a:bodyPr wrap="square" lIns="0" tIns="0" rIns="0" bIns="0" rtlCol="0" anchor="ctr"/>
          <a:lstStyle/>
          <a:p>
            <a:pPr algn="ctr" indent="0" marL="0">
              <a:buNone/>
            </a:pPr>
            <a:r>
              <a:rPr lang="en-US" sz="1800" b="1" dirty="0">
                <a:solidFill>
                  <a:srgbClr val="2C5F2D"/>
                </a:solidFill>
                <a:latin typeface="Calibri" pitchFamily="34" charset="0"/>
                <a:ea typeface="Calibri" pitchFamily="34" charset="-122"/>
                <a:cs typeface="Calibri" pitchFamily="34" charset="-120"/>
              </a:rPr>
              <a:t>2</a:t>
            </a:r>
            <a:endParaRPr lang="en-US" sz="1800" dirty="0"/>
          </a:p>
        </p:txBody>
      </p:sp>
      <p:sp>
        <p:nvSpPr>
          <p:cNvPr id="8" name="Text 6"/>
          <p:cNvSpPr txBox="1"/>
          <p:nvPr/>
        </p:nvSpPr>
        <p:spPr>
          <a:xfrm>
            <a:off x="1417320" y="2331720"/>
            <a:ext cx="6035040" cy="7315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Record pack weights for per-unit items so more of the 95 products can be compared.</a:t>
            </a:r>
            <a:endParaRPr lang="en-US" sz="1700" dirty="0"/>
          </a:p>
        </p:txBody>
      </p:sp>
      <p:sp>
        <p:nvSpPr>
          <p:cNvPr id="9" name="Shape 7"/>
          <p:cNvSpPr/>
          <p:nvPr/>
        </p:nvSpPr>
        <p:spPr>
          <a:xfrm>
            <a:off x="640080" y="3364992"/>
            <a:ext cx="548640" cy="548640"/>
          </a:xfrm>
          <a:prstGeom prst="ellipse">
            <a:avLst/>
          </a:prstGeom>
          <a:solidFill>
            <a:srgbClr val="F2C14E"/>
          </a:solidFill>
          <a:ln w="12700">
            <a:solidFill>
              <a:srgbClr val="F2C14E"/>
            </a:solidFill>
            <a:prstDash val="solid"/>
          </a:ln>
        </p:spPr>
      </p:sp>
      <p:sp>
        <p:nvSpPr>
          <p:cNvPr id="10" name="Text 8"/>
          <p:cNvSpPr txBox="1"/>
          <p:nvPr/>
        </p:nvSpPr>
        <p:spPr>
          <a:xfrm>
            <a:off x="640080" y="3364992"/>
            <a:ext cx="548640" cy="548640"/>
          </a:xfrm>
          <a:prstGeom prst="rect">
            <a:avLst/>
          </a:prstGeom>
          <a:noFill/>
          <a:ln/>
        </p:spPr>
        <p:txBody>
          <a:bodyPr wrap="square" lIns="0" tIns="0" rIns="0" bIns="0" rtlCol="0" anchor="ctr"/>
          <a:lstStyle/>
          <a:p>
            <a:pPr algn="ctr" indent="0" marL="0">
              <a:buNone/>
            </a:pPr>
            <a:r>
              <a:rPr lang="en-US" sz="1800" b="1" dirty="0">
                <a:solidFill>
                  <a:srgbClr val="2C5F2D"/>
                </a:solidFill>
                <a:latin typeface="Calibri" pitchFamily="34" charset="0"/>
                <a:ea typeface="Calibri" pitchFamily="34" charset="-122"/>
                <a:cs typeface="Calibri" pitchFamily="34" charset="-120"/>
              </a:rPr>
              <a:t>3</a:t>
            </a:r>
            <a:endParaRPr lang="en-US" sz="1800" dirty="0"/>
          </a:p>
        </p:txBody>
      </p:sp>
      <p:sp>
        <p:nvSpPr>
          <p:cNvPr id="11" name="Text 9"/>
          <p:cNvSpPr txBox="1"/>
          <p:nvPr/>
        </p:nvSpPr>
        <p:spPr>
          <a:xfrm>
            <a:off x="1417320" y="3291840"/>
            <a:ext cx="6035040" cy="7315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Build a household-weighted “healthy basket” to express the saving in dollars per week.</a:t>
            </a:r>
            <a:endParaRPr lang="en-US" sz="1700" dirty="0"/>
          </a:p>
        </p:txBody>
      </p:sp>
      <p:sp>
        <p:nvSpPr>
          <p:cNvPr id="12" name="Shape 10"/>
          <p:cNvSpPr/>
          <p:nvPr/>
        </p:nvSpPr>
        <p:spPr>
          <a:xfrm>
            <a:off x="640080" y="4325112"/>
            <a:ext cx="548640" cy="548640"/>
          </a:xfrm>
          <a:prstGeom prst="ellipse">
            <a:avLst/>
          </a:prstGeom>
          <a:solidFill>
            <a:srgbClr val="F2C14E"/>
          </a:solidFill>
          <a:ln w="12700">
            <a:solidFill>
              <a:srgbClr val="F2C14E"/>
            </a:solidFill>
            <a:prstDash val="solid"/>
          </a:ln>
        </p:spPr>
      </p:sp>
      <p:sp>
        <p:nvSpPr>
          <p:cNvPr id="13" name="Text 11"/>
          <p:cNvSpPr txBox="1"/>
          <p:nvPr/>
        </p:nvSpPr>
        <p:spPr>
          <a:xfrm>
            <a:off x="640080" y="4325112"/>
            <a:ext cx="548640" cy="548640"/>
          </a:xfrm>
          <a:prstGeom prst="rect">
            <a:avLst/>
          </a:prstGeom>
          <a:noFill/>
          <a:ln/>
        </p:spPr>
        <p:txBody>
          <a:bodyPr wrap="square" lIns="0" tIns="0" rIns="0" bIns="0" rtlCol="0" anchor="ctr"/>
          <a:lstStyle/>
          <a:p>
            <a:pPr algn="ctr" indent="0" marL="0">
              <a:buNone/>
            </a:pPr>
            <a:r>
              <a:rPr lang="en-US" sz="1800" b="1" dirty="0">
                <a:solidFill>
                  <a:srgbClr val="2C5F2D"/>
                </a:solidFill>
                <a:latin typeface="Calibri" pitchFamily="34" charset="0"/>
                <a:ea typeface="Calibri" pitchFamily="34" charset="-122"/>
                <a:cs typeface="Calibri" pitchFamily="34" charset="-120"/>
              </a:rPr>
              <a:t>4</a:t>
            </a:r>
            <a:endParaRPr lang="en-US" sz="1800" dirty="0"/>
          </a:p>
        </p:txBody>
      </p:sp>
      <p:sp>
        <p:nvSpPr>
          <p:cNvPr id="14" name="Text 12"/>
          <p:cNvSpPr txBox="1"/>
          <p:nvPr/>
        </p:nvSpPr>
        <p:spPr>
          <a:xfrm>
            <a:off x="1417320" y="4251960"/>
            <a:ext cx="6035040" cy="7315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Share the findings with parents, schools and policymakers as a worked example.</a:t>
            </a:r>
            <a:endParaRPr lang="en-US" sz="1700" dirty="0"/>
          </a:p>
        </p:txBody>
      </p:sp>
      <p:sp>
        <p:nvSpPr>
          <p:cNvPr id="15" name="Shape 13"/>
          <p:cNvSpPr/>
          <p:nvPr/>
        </p:nvSpPr>
        <p:spPr>
          <a:xfrm>
            <a:off x="7955280" y="1371600"/>
            <a:ext cx="3657600" cy="3840480"/>
          </a:xfrm>
          <a:prstGeom prst="roundRect">
            <a:avLst>
              <a:gd name="adj" fmla="val 5000"/>
            </a:avLst>
          </a:prstGeom>
          <a:solidFill>
            <a:srgbClr val="97BC62"/>
          </a:solidFill>
          <a:ln w="12700">
            <a:solidFill>
              <a:srgbClr val="97BC62"/>
            </a:solidFill>
            <a:prstDash val="solid"/>
          </a:ln>
        </p:spPr>
      </p:sp>
      <p:pic>
        <p:nvPicPr>
          <p:cNvPr id="16" name="Image 0" descr="preencoded.png">    </p:cNvPr>
          <p:cNvPicPr>
            <a:picLocks noChangeAspect="1"/>
          </p:cNvPicPr>
          <p:nvPr/>
        </p:nvPicPr>
        <p:blipFill>
          <a:blip r:embed="rId1"/>
          <a:stretch>
            <a:fillRect/>
          </a:stretch>
        </p:blipFill>
        <p:spPr>
          <a:xfrm>
            <a:off x="9052560" y="1691640"/>
            <a:ext cx="1463040" cy="1463040"/>
          </a:xfrm>
          <a:prstGeom prst="rect">
            <a:avLst/>
          </a:prstGeom>
        </p:spPr>
      </p:pic>
      <p:sp>
        <p:nvSpPr>
          <p:cNvPr id="17" name="Text 14"/>
          <p:cNvSpPr txBox="1"/>
          <p:nvPr/>
        </p:nvSpPr>
        <p:spPr>
          <a:xfrm>
            <a:off x="8138160" y="3291840"/>
            <a:ext cx="3291840" cy="640080"/>
          </a:xfrm>
          <a:prstGeom prst="rect">
            <a:avLst/>
          </a:prstGeom>
          <a:noFill/>
          <a:ln/>
        </p:spPr>
        <p:txBody>
          <a:bodyPr wrap="square" lIns="0" tIns="0" rIns="0" bIns="0" rtlCol="0" anchor="ctr"/>
          <a:lstStyle/>
          <a:p>
            <a:pPr algn="ctr" indent="0" marL="0">
              <a:buNone/>
            </a:pPr>
            <a:r>
              <a:rPr lang="en-US" sz="3000" b="1" dirty="0">
                <a:solidFill>
                  <a:srgbClr val="2C5F2D"/>
                </a:solidFill>
                <a:latin typeface="Calibri" pitchFamily="34" charset="0"/>
                <a:ea typeface="Calibri" pitchFamily="34" charset="-122"/>
                <a:cs typeface="Calibri" pitchFamily="34" charset="-120"/>
              </a:rPr>
              <a:t>Thank you</a:t>
            </a:r>
            <a:endParaRPr lang="en-US" sz="3000" dirty="0"/>
          </a:p>
        </p:txBody>
      </p:sp>
      <p:sp>
        <p:nvSpPr>
          <p:cNvPr id="18" name="Text 15"/>
          <p:cNvSpPr txBox="1"/>
          <p:nvPr/>
        </p:nvSpPr>
        <p:spPr>
          <a:xfrm>
            <a:off x="8138160" y="3977640"/>
            <a:ext cx="3291840" cy="1005840"/>
          </a:xfrm>
          <a:prstGeom prst="rect">
            <a:avLst/>
          </a:prstGeom>
          <a:noFill/>
          <a:ln/>
        </p:spPr>
        <p:txBody>
          <a:bodyPr wrap="square" lIns="0" tIns="0" rIns="0" bIns="0" rtlCol="0" anchor="ctr"/>
          <a:lstStyle/>
          <a:p>
            <a:pPr algn="ctr" indent="0" marL="0">
              <a:buNone/>
            </a:pPr>
            <a:r>
              <a:rPr lang="en-US" sz="1400" dirty="0">
                <a:solidFill>
                  <a:srgbClr val="1F2A1F"/>
                </a:solidFill>
                <a:latin typeface="Calibri" pitchFamily="34" charset="0"/>
                <a:ea typeface="Calibri" pitchFamily="34" charset="-122"/>
                <a:cs typeface="Calibri" pitchFamily="34" charset="-120"/>
              </a:rPr>
              <a:t>Questions welcome.</a:t>
            </a:r>
            <a:endParaRPr lang="en-US" sz="1400" dirty="0"/>
          </a:p>
          <a:p>
            <a:pPr algn="ctr" indent="0" marL="0">
              <a:buNone/>
            </a:pPr>
            <a:r>
              <a:rPr lang="en-US" sz="1400" dirty="0">
                <a:solidFill>
                  <a:srgbClr val="1F2A1F"/>
                </a:solidFill>
                <a:latin typeface="Calibri" pitchFamily="34" charset="0"/>
                <a:ea typeface="Calibri" pitchFamily="34" charset="-122"/>
                <a:cs typeface="Calibri" pitchFamily="34" charset="-120"/>
              </a:rPr>
              <a:t>Full report and workbook available from HSFB.</a:t>
            </a:r>
            <a:endParaRPr lang="en-US" sz="1400" dirty="0"/>
          </a:p>
        </p:txBody>
      </p:sp>
      <p:sp>
        <p:nvSpPr>
          <p:cNvPr id="19" name="Text 16"/>
          <p:cNvSpPr txBox="1"/>
          <p:nvPr/>
        </p:nvSpPr>
        <p:spPr>
          <a:xfrm>
            <a:off x="640080" y="5760720"/>
            <a:ext cx="10972800" cy="365760"/>
          </a:xfrm>
          <a:prstGeom prst="rect">
            <a:avLst/>
          </a:prstGeom>
          <a:noFill/>
          <a:ln/>
        </p:spPr>
        <p:txBody>
          <a:bodyPr wrap="square" lIns="0" tIns="0" rIns="0" bIns="0" rtlCol="0" anchor="ctr"/>
          <a:lstStyle/>
          <a:p>
            <a:pPr indent="0" marL="0">
              <a:buNone/>
            </a:pPr>
            <a:r>
              <a:rPr lang="en-US" sz="1300" dirty="0">
                <a:solidFill>
                  <a:srgbClr val="DCE8D4"/>
                </a:solidFill>
                <a:latin typeface="Calibri" pitchFamily="34" charset="0"/>
                <a:ea typeface="Calibri" pitchFamily="34" charset="-122"/>
                <a:cs typeface="Calibri" pitchFamily="34" charset="-120"/>
              </a:rPr>
              <a:t>Ms. Daniella Clarke  |  Heart &amp; Stroke Foundation of Barbados  |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Great Grocery Showdown</dc:title>
  <dc:subject>PptxGenJS Presentation</dc:subject>
  <dc:creator>Heart &amp; Stroke Foundation of Barbados</dc:creator>
  <cp:lastModifiedBy>Heart &amp; Stroke Foundation of Barbados</cp:lastModifiedBy>
  <cp:revision>1</cp:revision>
  <dcterms:created xsi:type="dcterms:W3CDTF">2026-10-01T15:56:33Z</dcterms:created>
  <dcterms:modified xsi:type="dcterms:W3CDTF">2026-10-01T15:56:33Z</dcterms:modified>
</cp:coreProperties>
</file>